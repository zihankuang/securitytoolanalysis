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14630400" cy="8229600"/>
  <p:notesSz cx="8229600" cy="14630400"/>
  <p:embeddedFontLst>
    <p:embeddedFont>
      <p:font typeface="Instrument Sans Semi Bold" pitchFamily="34" charset="0"/>
      <p:regular r:id="rId13"/>
    </p:embeddedFont>
    <p:embeddedFont>
      <p:font typeface="Instrument Sans Semi Bold" pitchFamily="34" charset="-122"/>
      <p:regular r:id="rId14"/>
    </p:embeddedFont>
    <p:embeddedFont>
      <p:font typeface="Instrument Sans Semi Bold" pitchFamily="34" charset="-120"/>
      <p:regular r:id="rId15"/>
    </p:embeddedFont>
    <p:embeddedFont>
      <p:font typeface="Instrument Sans Medium" pitchFamily="34" charset="0"/>
      <p:regular r:id="rId16"/>
    </p:embeddedFont>
    <p:embeddedFont>
      <p:font typeface="Instrument Sans Medium" pitchFamily="34" charset="-122"/>
      <p:regular r:id="rId17"/>
    </p:embeddedFont>
    <p:embeddedFont>
      <p:font typeface="Instrument Sans Medium" pitchFamily="34" charset="-120"/>
      <p:regular r:id="rId18"/>
    </p:embeddedFont>
    <p:embeddedFont>
      <p:font typeface="Calibri" panose="020F0502020204030204" charset="0"/>
      <p:regular r:id="rId19"/>
      <p:bold r:id="rId20"/>
      <p:italic r:id="rId21"/>
      <p:boldItalic r:id="rId22"/>
    </p:embeddedFont>
    <p:embeddedFont>
      <p:font typeface="等线" panose="02010600030101010101" charset="-122"/>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11.fntdata"/><Relationship Id="rId22" Type="http://schemas.openxmlformats.org/officeDocument/2006/relationships/font" Target="fonts/font10.fntdata"/><Relationship Id="rId21" Type="http://schemas.openxmlformats.org/officeDocument/2006/relationships/font" Target="fonts/font9.fntdata"/><Relationship Id="rId20" Type="http://schemas.openxmlformats.org/officeDocument/2006/relationships/font" Target="fonts/font8.fntdata"/><Relationship Id="rId2" Type="http://schemas.openxmlformats.org/officeDocument/2006/relationships/theme" Target="theme/theme1.xml"/><Relationship Id="rId19" Type="http://schemas.openxmlformats.org/officeDocument/2006/relationships/font" Target="fonts/font7.fntdata"/><Relationship Id="rId18" Type="http://schemas.openxmlformats.org/officeDocument/2006/relationships/font" Target="fonts/font6.fntdata"/><Relationship Id="rId17" Type="http://schemas.openxmlformats.org/officeDocument/2006/relationships/font" Target="fonts/font5.fntdata"/><Relationship Id="rId16" Type="http://schemas.openxmlformats.org/officeDocument/2006/relationships/font" Target="fonts/font4.fntdata"/><Relationship Id="rId15" Type="http://schemas.openxmlformats.org/officeDocument/2006/relationships/font" Target="fonts/font3.fntdata"/><Relationship Id="rId14" Type="http://schemas.openxmlformats.org/officeDocument/2006/relationships/font" Target="fonts/font2.fntdata"/><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We'll present our comparative analysis of race detection tools in threaded programs. I'm Ruixuan Li working with my partner Zihan Kuang, and we are Group 54.
Concurrent programming is prevalent in modern software development, and multi-threaded code improves responsiveness and performance. However, concurrency bugs like data races are difficult to detect.
This study evaluates three static analysis tools - SpotBugs, SonarQube, and Infer - on five common race condition patterns, a real-world CVE vulnerability, and a large-scale project from Alibaba Druid.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 comprehensive testing methodology using common race condition patterns. Let me focus on two key patterns we tested:
Double-Checked Locking: We tested an incorrect version missing the volatile keyword, which can lead to observing partially constructed objects.
Unsafe Publication: The flawed version demonstrates unsafe publication by assigning a newly constructed object to a public static field without synchronization.
And Each pattern is tested with flawed and corrected versions.
The detection result is shown on the screen. This reveals that while tools can catch well-known race conditions, they struggle with more subtle publication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examined two real-world inspired cases to test practical detection capabilities:
CVE-2024-7885 involves an unsynchronized StringBuilder access vulnerability where two threads concurrently access a shared StringBuilder without synchronization.
For WebSocket Race Conditions, We compared a flawed implementation where a single WebSocketClient is shared across multiple threads with concurrent send calls, against a corrected baseline where each thread uses a dedicated WebSocketClient connection.
Surprisingly, the Detection Performance is that none of the three tools detected these real-world race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quickly review three common race patterns.
First, Non-Atomic Operations – think of unsynchronized counters. In our tests, all three tools missed it.
Second, Iterator Races – that's when a list is modified during iteration. Again, all three tools failed to detect this common bug.
Finally, Guarded-By Violations, a</a:t>
            </a:r>
            <a:r>
              <a:rPr lang="en-US" dirty="0">
                <a:solidFill>
                  <a:srgbClr val="1E3063"/>
                </a:solidFill>
                <a:latin typeface="Instrument Sans Medium" pitchFamily="34" charset="0"/>
                <a:ea typeface="Instrument Sans Medium" pitchFamily="34" charset="-122"/>
                <a:cs typeface="Instrument Sans Medium" pitchFamily="34" charset="-120"/>
                <a:sym typeface="+mn-ea"/>
              </a:rPr>
              <a:t>ccessing shared data without required lock protection </a:t>
            </a:r>
            <a:r>
              <a:rPr lang="en-US" dirty="0"/>
              <a:t>. SpotBugs and SonarQube missed it. Infer, however, performed very well, correctly identifying the violations.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test on a big, real-world project: Alibaba Druid. This project was so massive that even analyzing a single core module, as we did, really pushed our setup to its limits, but it gave us some valuable insights to share.
We picked its core module, which has over 1,600 Java files It was definitely a challenge.
So, the results? Only infer finished the test, others failed.
Infer made it through after a lot of setup effort, finding several potential null pointer and thread safety violations. </a:t>
            </a:r>
            <a:endParaRPr lang="en-US" dirty="0"/>
          </a:p>
          <a:p>
            <a:r>
              <a:rPr lang="en-US" dirty="0"/>
              <a:t>The key lesson: analyzing huge Java projects is incredibly demanding, </a:t>
            </a:r>
            <a:r>
              <a:rPr lang="en-US" dirty="0"/>
              <a:t>and pushing tools and setups to their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main takeaway from our study? </a:t>
            </a:r>
            <a:r>
              <a:rPr lang="en-US" dirty="0">
                <a:sym typeface="+mn-ea"/>
              </a:rPr>
              <a:t>Why they have different performance? </a:t>
            </a:r>
            <a:r>
              <a:rPr lang="en-US" dirty="0"/>
              <a:t>No single static tool is a silver bullet for catching all race conditions. </a:t>
            </a:r>
            <a:endParaRPr lang="en-US" dirty="0">
              <a:sym typeface="+mn-ea"/>
            </a:endParaRPr>
          </a:p>
          <a:p>
            <a:r>
              <a:rPr lang="en-US" altLang="zh-CN" dirty="0"/>
              <a:t>Infer's strong point was its detailed analysis of data access.</a:t>
            </a:r>
            <a:r>
              <a:rPr lang="en-US" dirty="0"/>
              <a:t> However, even Infer struggled when race conditions </a:t>
            </a:r>
            <a:r>
              <a:rPr lang="en-US" dirty="0"/>
              <a:t>that hidden inside common library code.</a:t>
            </a:r>
            <a:br>
              <a:rPr lang="en-US" dirty="0"/>
            </a:br>
            <a:r>
              <a:rPr lang="en-US" dirty="0"/>
              <a:t>SpotBugs primarily relies on matching known problematic code, and SonarQube's free version has very limited built-in rules for complex concurrency issues. </a:t>
            </a:r>
            <a:endParaRPr lang="en-US" dirty="0"/>
          </a:p>
          <a:p>
            <a:r>
              <a:rPr lang="en-US" dirty="0"/>
              <a:t>And all these tools struggled with races involving standard library classes. 
This leads to a crucial point: relying on static tools alone isn't enough. To build robust concurrent software, we strongly recommend a multi-layered strategy – using tools for their specific strengths, but absolutely combining them developer code reviews, especially around library usage.</a:t>
            </a:r>
            <a:br>
              <a:rPr lang="en-US" dirty="0"/>
            </a:br>
            <a:r>
              <a:rPr lang="en-US" dirty="0"/>
              <a:t>I guess that’s all we want to share,thank you for your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5.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754987"/>
          </a:xfrm>
          <a:prstGeom prst="rect">
            <a:avLst/>
          </a:prstGeom>
        </p:spPr>
      </p:pic>
      <p:sp>
        <p:nvSpPr>
          <p:cNvPr id="3" name="Text 0"/>
          <p:cNvSpPr/>
          <p:nvPr/>
        </p:nvSpPr>
        <p:spPr>
          <a:xfrm>
            <a:off x="734616" y="3202067"/>
            <a:ext cx="13161169" cy="1312069"/>
          </a:xfrm>
          <a:prstGeom prst="rect">
            <a:avLst/>
          </a:prstGeom>
          <a:noFill/>
        </p:spPr>
        <p:txBody>
          <a:bodyPr wrap="square" lIns="0" tIns="0" rIns="0" bIns="0" rtlCol="0" anchor="t"/>
          <a:lstStyle/>
          <a:p>
            <a:pPr marL="0" indent="0" algn="l">
              <a:lnSpc>
                <a:spcPts val="5150"/>
              </a:lnSpc>
              <a:buNone/>
            </a:pPr>
            <a:r>
              <a:rPr lang="en-US" sz="4100" dirty="0">
                <a:solidFill>
                  <a:srgbClr val="091C53"/>
                </a:solidFill>
                <a:latin typeface="Instrument Sans Semi Bold" pitchFamily="34" charset="0"/>
                <a:ea typeface="Instrument Sans Semi Bold" pitchFamily="34" charset="-122"/>
                <a:cs typeface="Instrument Sans Semi Bold" pitchFamily="34" charset="-120"/>
              </a:rPr>
              <a:t>Comparative Analysis of Race Detection Tools in Threaded Programs</a:t>
            </a:r>
            <a:endParaRPr lang="en-US" sz="4100" dirty="0"/>
          </a:p>
        </p:txBody>
      </p:sp>
      <p:sp>
        <p:nvSpPr>
          <p:cNvPr id="4" name="Text 1"/>
          <p:cNvSpPr/>
          <p:nvPr/>
        </p:nvSpPr>
        <p:spPr>
          <a:xfrm>
            <a:off x="734616" y="4828937"/>
            <a:ext cx="13161169" cy="335756"/>
          </a:xfrm>
          <a:prstGeom prst="rect">
            <a:avLst/>
          </a:prstGeom>
          <a:noFill/>
        </p:spPr>
        <p:txBody>
          <a:bodyPr wrap="none" lIns="0" tIns="0" rIns="0" bIns="0" rtlCol="0" anchor="t"/>
          <a:lstStyle/>
          <a:p>
            <a:pPr marL="0" indent="0" algn="l">
              <a:lnSpc>
                <a:spcPts val="2600"/>
              </a:lnSpc>
              <a:buNone/>
            </a:pPr>
            <a:r>
              <a:rPr lang="en-US" sz="1650" b="1" dirty="0">
                <a:solidFill>
                  <a:srgbClr val="1E3063"/>
                </a:solidFill>
                <a:latin typeface="Instrument Sans Medium" pitchFamily="34" charset="0"/>
                <a:ea typeface="Instrument Sans Medium" pitchFamily="34" charset="-122"/>
                <a:cs typeface="Instrument Sans Medium" pitchFamily="34" charset="-120"/>
              </a:rPr>
              <a:t>Zihan Kuang, Ruixuan Li                                                                                                   Group Number: 54</a:t>
            </a:r>
            <a:endParaRPr lang="en-US" sz="1650" dirty="0"/>
          </a:p>
        </p:txBody>
      </p:sp>
      <p:sp>
        <p:nvSpPr>
          <p:cNvPr id="5" name="Text 2"/>
          <p:cNvSpPr/>
          <p:nvPr/>
        </p:nvSpPr>
        <p:spPr>
          <a:xfrm>
            <a:off x="734616" y="5400794"/>
            <a:ext cx="13161169" cy="671512"/>
          </a:xfrm>
          <a:prstGeom prst="rect">
            <a:avLst/>
          </a:prstGeom>
          <a:noFill/>
        </p:spPr>
        <p:txBody>
          <a:bodyPr wrap="square" lIns="0" tIns="0" rIns="0" bIns="0" rtlCol="0" anchor="t"/>
          <a:lstStyle/>
          <a:p>
            <a:pPr marL="0" indent="0" algn="l">
              <a:lnSpc>
                <a:spcPts val="2600"/>
              </a:lnSpc>
              <a:buNone/>
            </a:pPr>
            <a:r>
              <a:rPr lang="en-US" sz="1650" b="1" dirty="0">
                <a:solidFill>
                  <a:srgbClr val="1E3063"/>
                </a:solidFill>
                <a:latin typeface="Instrument Sans Medium" pitchFamily="34" charset="0"/>
                <a:ea typeface="Instrument Sans Medium" pitchFamily="34" charset="-122"/>
                <a:cs typeface="Instrument Sans Medium" pitchFamily="34" charset="-120"/>
              </a:rPr>
              <a:t>Concurrent programming is prevalent in modern software development. Multi-threaded code improves responsiveness and performance. However, concurrency bugs like data races are difficult to detect.</a:t>
            </a:r>
            <a:endParaRPr lang="en-US" sz="1650" dirty="0"/>
          </a:p>
        </p:txBody>
      </p:sp>
      <p:sp>
        <p:nvSpPr>
          <p:cNvPr id="6" name="Text 3"/>
          <p:cNvSpPr/>
          <p:nvPr/>
        </p:nvSpPr>
        <p:spPr>
          <a:xfrm>
            <a:off x="734616" y="6308408"/>
            <a:ext cx="13161169" cy="1343025"/>
          </a:xfrm>
          <a:prstGeom prst="rect">
            <a:avLst/>
          </a:prstGeom>
          <a:noFill/>
        </p:spPr>
        <p:txBody>
          <a:bodyPr wrap="square" lIns="0" tIns="0" rIns="0" bIns="0" rtlCol="0" anchor="t"/>
          <a:lstStyle/>
          <a:p>
            <a:pPr marL="0" indent="0" algn="l">
              <a:lnSpc>
                <a:spcPts val="2600"/>
              </a:lnSpc>
              <a:buNone/>
            </a:pPr>
            <a:r>
              <a:rPr lang="en-US" sz="1650" b="1" dirty="0">
                <a:solidFill>
                  <a:srgbClr val="1E3063"/>
                </a:solidFill>
                <a:latin typeface="Instrument Sans Medium" pitchFamily="34" charset="0"/>
                <a:ea typeface="Instrument Sans Medium" pitchFamily="34" charset="-122"/>
                <a:cs typeface="Instrument Sans Medium" pitchFamily="34" charset="-120"/>
              </a:rPr>
              <a:t>This study evaluates three static analysis tools</a:t>
            </a:r>
            <a:r>
              <a:rPr lang="en-US" sz="1650" dirty="0">
                <a:solidFill>
                  <a:srgbClr val="1E3063"/>
                </a:solidFill>
                <a:latin typeface="Instrument Sans Medium" pitchFamily="34" charset="0"/>
                <a:ea typeface="Instrument Sans Medium" pitchFamily="34" charset="-122"/>
                <a:cs typeface="Instrument Sans Medium" pitchFamily="34" charset="-120"/>
              </a:rPr>
              <a:t> - </a:t>
            </a:r>
            <a:r>
              <a:rPr lang="en-US" sz="1650" dirty="0">
                <a:solidFill>
                  <a:srgbClr val="1E3063"/>
                </a:solidFill>
                <a:latin typeface="Instrument Sans Medium" pitchFamily="34" charset="0"/>
                <a:ea typeface="Instrument Sans Medium" pitchFamily="34" charset="-122"/>
                <a:cs typeface="Instrument Sans Medium" pitchFamily="34" charset="-120"/>
              </a:rPr>
              <a:t>SpotBugs, SonarQube, and Infer on: </a:t>
            </a:r>
            <a:r>
              <a:rPr lang="en-US" sz="1650" b="1" dirty="0">
                <a:solidFill>
                  <a:srgbClr val="1E3063"/>
                </a:solidFill>
                <a:latin typeface="Instrument Sans Medium" pitchFamily="34" charset="0"/>
                <a:ea typeface="Instrument Sans Medium" pitchFamily="34" charset="-122"/>
                <a:cs typeface="Instrument Sans Medium" pitchFamily="34" charset="-120"/>
              </a:rPr>
              <a:t>
</a:t>
            </a:r>
            <a:r>
              <a:rPr lang="en-US" sz="1650" dirty="0">
                <a:solidFill>
                  <a:srgbClr val="1E3063"/>
                </a:solidFill>
                <a:latin typeface="Instrument Sans Medium" pitchFamily="34" charset="0"/>
                <a:ea typeface="Instrument Sans Medium" pitchFamily="34" charset="-122"/>
                <a:cs typeface="Instrument Sans Medium" pitchFamily="34" charset="-120"/>
              </a:rPr>
              <a:t> 1.  Five common race condition patterns </a:t>
            </a:r>
            <a:r>
              <a:rPr lang="en-US" sz="1650" b="1" dirty="0">
                <a:solidFill>
                  <a:srgbClr val="1E3063"/>
                </a:solidFill>
                <a:latin typeface="Instrument Sans Medium" pitchFamily="34" charset="0"/>
                <a:ea typeface="Instrument Sans Medium" pitchFamily="34" charset="-122"/>
                <a:cs typeface="Instrument Sans Medium" pitchFamily="34" charset="-120"/>
              </a:rPr>
              <a:t>
</a:t>
            </a:r>
            <a:r>
              <a:rPr lang="en-US" sz="1650" dirty="0">
                <a:solidFill>
                  <a:srgbClr val="1E3063"/>
                </a:solidFill>
                <a:latin typeface="Instrument Sans Medium" pitchFamily="34" charset="0"/>
                <a:ea typeface="Instrument Sans Medium" pitchFamily="34" charset="-122"/>
                <a:cs typeface="Instrument Sans Medium" pitchFamily="34" charset="-120"/>
              </a:rPr>
              <a:t> 2. A real-world CVE vulnerability (CVE-2024-7885) </a:t>
            </a:r>
            <a:r>
              <a:rPr lang="en-US" sz="1650" b="1" dirty="0">
                <a:solidFill>
                  <a:srgbClr val="1E3063"/>
                </a:solidFill>
                <a:latin typeface="Instrument Sans Medium" pitchFamily="34" charset="0"/>
                <a:ea typeface="Instrument Sans Medium" pitchFamily="34" charset="-122"/>
                <a:cs typeface="Instrument Sans Medium" pitchFamily="34" charset="-120"/>
              </a:rPr>
              <a:t>
</a:t>
            </a:r>
            <a:r>
              <a:rPr lang="en-US" sz="1650" dirty="0">
                <a:solidFill>
                  <a:srgbClr val="1E3063"/>
                </a:solidFill>
                <a:latin typeface="Instrument Sans Medium" pitchFamily="34" charset="0"/>
                <a:ea typeface="Instrument Sans Medium" pitchFamily="34" charset="-122"/>
                <a:cs typeface="Instrument Sans Medium" pitchFamily="34" charset="-120"/>
              </a:rPr>
              <a:t> 3. A large-scale real-world project (Alibaba Druid)</a:t>
            </a:r>
            <a:endParaRPr lang="en-US" sz="165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511" y="519708"/>
            <a:ext cx="13307378" cy="1181338"/>
          </a:xfrm>
          <a:prstGeom prst="rect">
            <a:avLst/>
          </a:prstGeom>
          <a:noFill/>
        </p:spPr>
        <p:txBody>
          <a:bodyPr wrap="square" lIns="0" tIns="0" rIns="0" bIns="0" rtlCol="0" anchor="t"/>
          <a:lstStyle/>
          <a:p>
            <a:pPr marL="0" indent="0" algn="l">
              <a:lnSpc>
                <a:spcPts val="4650"/>
              </a:lnSpc>
              <a:buNone/>
            </a:pPr>
            <a:r>
              <a:rPr lang="en-US" sz="3700" dirty="0">
                <a:solidFill>
                  <a:srgbClr val="091C53"/>
                </a:solidFill>
                <a:latin typeface="Instrument Sans Semi Bold" pitchFamily="34" charset="0"/>
                <a:ea typeface="Instrument Sans Semi Bold" pitchFamily="34" charset="-122"/>
                <a:cs typeface="Instrument Sans Semi Bold" pitchFamily="34" charset="-120"/>
              </a:rPr>
              <a:t>Methodology: Evaluating Tools on Common Race Condition Patterns</a:t>
            </a:r>
            <a:endParaRPr lang="en-US" sz="3700" dirty="0"/>
          </a:p>
        </p:txBody>
      </p:sp>
      <p:sp>
        <p:nvSpPr>
          <p:cNvPr id="3" name="Shape 1"/>
          <p:cNvSpPr/>
          <p:nvPr/>
        </p:nvSpPr>
        <p:spPr>
          <a:xfrm>
            <a:off x="661511" y="1984534"/>
            <a:ext cx="425291" cy="425291"/>
          </a:xfrm>
          <a:prstGeom prst="roundRect">
            <a:avLst>
              <a:gd name="adj" fmla="val 40001"/>
            </a:avLst>
          </a:prstGeom>
          <a:solidFill>
            <a:srgbClr val="CEE6FD"/>
          </a:solidFill>
        </p:spPr>
      </p:sp>
      <p:sp>
        <p:nvSpPr>
          <p:cNvPr id="4" name="Text 2"/>
          <p:cNvSpPr/>
          <p:nvPr/>
        </p:nvSpPr>
        <p:spPr>
          <a:xfrm>
            <a:off x="732413" y="2020014"/>
            <a:ext cx="283488" cy="354330"/>
          </a:xfrm>
          <a:prstGeom prst="rect">
            <a:avLst/>
          </a:prstGeom>
          <a:noFill/>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1</a:t>
            </a:r>
            <a:endParaRPr lang="en-US" sz="2200" dirty="0"/>
          </a:p>
        </p:txBody>
      </p:sp>
      <p:sp>
        <p:nvSpPr>
          <p:cNvPr id="5" name="Text 3"/>
          <p:cNvSpPr/>
          <p:nvPr/>
        </p:nvSpPr>
        <p:spPr>
          <a:xfrm>
            <a:off x="1275755" y="2049423"/>
            <a:ext cx="2832616" cy="295275"/>
          </a:xfrm>
          <a:prstGeom prst="rect">
            <a:avLst/>
          </a:prstGeom>
          <a:noFill/>
        </p:spPr>
        <p:txBody>
          <a:bodyPr wrap="none" lIns="0" tIns="0" rIns="0" bIns="0" rtlCol="0" anchor="t"/>
          <a:lstStyle/>
          <a:p>
            <a:pPr marL="0" indent="0" algn="l">
              <a:lnSpc>
                <a:spcPts val="230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Double-Checked Locking</a:t>
            </a:r>
            <a:endParaRPr lang="en-US" sz="1850" dirty="0"/>
          </a:p>
        </p:txBody>
      </p:sp>
      <p:sp>
        <p:nvSpPr>
          <p:cNvPr id="6" name="Text 4"/>
          <p:cNvSpPr/>
          <p:nvPr/>
        </p:nvSpPr>
        <p:spPr>
          <a:xfrm>
            <a:off x="1275755" y="2458045"/>
            <a:ext cx="3664029" cy="302419"/>
          </a:xfrm>
          <a:prstGeom prst="rect">
            <a:avLst/>
          </a:prstGeom>
          <a:noFill/>
        </p:spPr>
        <p:txBody>
          <a:bodyPr wrap="non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missing the volatile keyword</a:t>
            </a:r>
            <a:endParaRPr lang="en-US" sz="1450" dirty="0"/>
          </a:p>
        </p:txBody>
      </p:sp>
      <p:sp>
        <p:nvSpPr>
          <p:cNvPr id="7" name="Text 5"/>
          <p:cNvSpPr/>
          <p:nvPr/>
        </p:nvSpPr>
        <p:spPr>
          <a:xfrm>
            <a:off x="1275755" y="2873812"/>
            <a:ext cx="3664029" cy="604838"/>
          </a:xfrm>
          <a:prstGeom prst="rect">
            <a:avLst/>
          </a:prstGeom>
          <a:noFill/>
        </p:spPr>
        <p:txBody>
          <a:bodyPr wrap="squar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lead to observing partially constructed objects</a:t>
            </a:r>
            <a:endParaRPr lang="en-US" sz="1450" dirty="0"/>
          </a:p>
        </p:txBody>
      </p:sp>
      <p:sp>
        <p:nvSpPr>
          <p:cNvPr id="8" name="Shape 6"/>
          <p:cNvSpPr/>
          <p:nvPr/>
        </p:nvSpPr>
        <p:spPr>
          <a:xfrm>
            <a:off x="5176004" y="1984534"/>
            <a:ext cx="425291" cy="425291"/>
          </a:xfrm>
          <a:prstGeom prst="roundRect">
            <a:avLst>
              <a:gd name="adj" fmla="val 40001"/>
            </a:avLst>
          </a:prstGeom>
          <a:solidFill>
            <a:srgbClr val="CEE6FD"/>
          </a:solidFill>
        </p:spPr>
      </p:sp>
      <p:sp>
        <p:nvSpPr>
          <p:cNvPr id="9" name="Text 7"/>
          <p:cNvSpPr/>
          <p:nvPr/>
        </p:nvSpPr>
        <p:spPr>
          <a:xfrm>
            <a:off x="5246906" y="2020014"/>
            <a:ext cx="283488" cy="354330"/>
          </a:xfrm>
          <a:prstGeom prst="rect">
            <a:avLst/>
          </a:prstGeom>
          <a:noFill/>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2</a:t>
            </a:r>
            <a:endParaRPr lang="en-US" sz="2200" dirty="0"/>
          </a:p>
        </p:txBody>
      </p:sp>
      <p:sp>
        <p:nvSpPr>
          <p:cNvPr id="10" name="Text 8"/>
          <p:cNvSpPr/>
          <p:nvPr/>
        </p:nvSpPr>
        <p:spPr>
          <a:xfrm>
            <a:off x="5790248" y="2049423"/>
            <a:ext cx="2362676" cy="295275"/>
          </a:xfrm>
          <a:prstGeom prst="rect">
            <a:avLst/>
          </a:prstGeom>
          <a:noFill/>
        </p:spPr>
        <p:txBody>
          <a:bodyPr wrap="none" lIns="0" tIns="0" rIns="0" bIns="0" rtlCol="0" anchor="t"/>
          <a:lstStyle/>
          <a:p>
            <a:pPr marL="0" indent="0" algn="l">
              <a:lnSpc>
                <a:spcPts val="230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Unsafe Publication</a:t>
            </a:r>
            <a:endParaRPr lang="en-US" sz="1850" dirty="0"/>
          </a:p>
        </p:txBody>
      </p:sp>
      <p:sp>
        <p:nvSpPr>
          <p:cNvPr id="11" name="Text 9"/>
          <p:cNvSpPr/>
          <p:nvPr/>
        </p:nvSpPr>
        <p:spPr>
          <a:xfrm>
            <a:off x="5790248" y="2458045"/>
            <a:ext cx="3664029" cy="604838"/>
          </a:xfrm>
          <a:prstGeom prst="rect">
            <a:avLst/>
          </a:prstGeom>
          <a:noFill/>
        </p:spPr>
        <p:txBody>
          <a:bodyPr wrap="squar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assigning a newly constructed object to a public static field without synchronization</a:t>
            </a:r>
            <a:endParaRPr lang="en-US" sz="1450" dirty="0"/>
          </a:p>
        </p:txBody>
      </p:sp>
      <p:sp>
        <p:nvSpPr>
          <p:cNvPr id="12" name="Shape 10"/>
          <p:cNvSpPr/>
          <p:nvPr/>
        </p:nvSpPr>
        <p:spPr>
          <a:xfrm>
            <a:off x="9690497" y="1984534"/>
            <a:ext cx="425291" cy="425291"/>
          </a:xfrm>
          <a:prstGeom prst="roundRect">
            <a:avLst>
              <a:gd name="adj" fmla="val 40001"/>
            </a:avLst>
          </a:prstGeom>
          <a:solidFill>
            <a:srgbClr val="CEE6FD"/>
          </a:solidFill>
        </p:spPr>
      </p:sp>
      <p:sp>
        <p:nvSpPr>
          <p:cNvPr id="13" name="Text 11"/>
          <p:cNvSpPr/>
          <p:nvPr/>
        </p:nvSpPr>
        <p:spPr>
          <a:xfrm>
            <a:off x="9761399" y="2020014"/>
            <a:ext cx="283488" cy="354330"/>
          </a:xfrm>
          <a:prstGeom prst="rect">
            <a:avLst/>
          </a:prstGeom>
          <a:noFill/>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3</a:t>
            </a:r>
            <a:endParaRPr lang="en-US" sz="2200" dirty="0"/>
          </a:p>
        </p:txBody>
      </p:sp>
      <p:sp>
        <p:nvSpPr>
          <p:cNvPr id="14" name="Text 12"/>
          <p:cNvSpPr/>
          <p:nvPr/>
        </p:nvSpPr>
        <p:spPr>
          <a:xfrm>
            <a:off x="10304740" y="2049423"/>
            <a:ext cx="2639616" cy="295275"/>
          </a:xfrm>
          <a:prstGeom prst="rect">
            <a:avLst/>
          </a:prstGeom>
          <a:noFill/>
        </p:spPr>
        <p:txBody>
          <a:bodyPr wrap="none" lIns="0" tIns="0" rIns="0" bIns="0" rtlCol="0" anchor="t"/>
          <a:lstStyle/>
          <a:p>
            <a:pPr marL="0" indent="0" algn="l">
              <a:lnSpc>
                <a:spcPts val="230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Non-Atomic Operations</a:t>
            </a:r>
            <a:endParaRPr lang="en-US" sz="1850" dirty="0"/>
          </a:p>
        </p:txBody>
      </p:sp>
      <p:sp>
        <p:nvSpPr>
          <p:cNvPr id="15" name="Text 13"/>
          <p:cNvSpPr/>
          <p:nvPr/>
        </p:nvSpPr>
        <p:spPr>
          <a:xfrm>
            <a:off x="10304740" y="2458045"/>
            <a:ext cx="3664029" cy="604838"/>
          </a:xfrm>
          <a:prstGeom prst="rect">
            <a:avLst/>
          </a:prstGeom>
          <a:noFill/>
        </p:spPr>
        <p:txBody>
          <a:bodyPr wrap="squar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Compound operations without proper synchronization</a:t>
            </a:r>
            <a:endParaRPr lang="en-US" sz="1450" dirty="0"/>
          </a:p>
        </p:txBody>
      </p:sp>
      <p:sp>
        <p:nvSpPr>
          <p:cNvPr id="16" name="Shape 14"/>
          <p:cNvSpPr/>
          <p:nvPr/>
        </p:nvSpPr>
        <p:spPr>
          <a:xfrm>
            <a:off x="661511" y="3856672"/>
            <a:ext cx="425291" cy="425291"/>
          </a:xfrm>
          <a:prstGeom prst="roundRect">
            <a:avLst>
              <a:gd name="adj" fmla="val 40001"/>
            </a:avLst>
          </a:prstGeom>
          <a:solidFill>
            <a:srgbClr val="CEE6FD"/>
          </a:solidFill>
        </p:spPr>
      </p:sp>
      <p:sp>
        <p:nvSpPr>
          <p:cNvPr id="17" name="Text 15"/>
          <p:cNvSpPr/>
          <p:nvPr/>
        </p:nvSpPr>
        <p:spPr>
          <a:xfrm>
            <a:off x="732413" y="3892153"/>
            <a:ext cx="283488" cy="354330"/>
          </a:xfrm>
          <a:prstGeom prst="rect">
            <a:avLst/>
          </a:prstGeom>
          <a:noFill/>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4</a:t>
            </a:r>
            <a:endParaRPr lang="en-US" sz="2200" dirty="0"/>
          </a:p>
        </p:txBody>
      </p:sp>
      <p:sp>
        <p:nvSpPr>
          <p:cNvPr id="18" name="Text 16"/>
          <p:cNvSpPr/>
          <p:nvPr/>
        </p:nvSpPr>
        <p:spPr>
          <a:xfrm>
            <a:off x="1275755" y="3921562"/>
            <a:ext cx="2362676" cy="295275"/>
          </a:xfrm>
          <a:prstGeom prst="rect">
            <a:avLst/>
          </a:prstGeom>
          <a:noFill/>
        </p:spPr>
        <p:txBody>
          <a:bodyPr wrap="none" lIns="0" tIns="0" rIns="0" bIns="0" rtlCol="0" anchor="t"/>
          <a:lstStyle/>
          <a:p>
            <a:pPr marL="0" indent="0" algn="l">
              <a:lnSpc>
                <a:spcPts val="230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Iterator Races</a:t>
            </a:r>
            <a:endParaRPr lang="en-US" sz="1850" dirty="0"/>
          </a:p>
        </p:txBody>
      </p:sp>
      <p:sp>
        <p:nvSpPr>
          <p:cNvPr id="19" name="Text 17"/>
          <p:cNvSpPr/>
          <p:nvPr/>
        </p:nvSpPr>
        <p:spPr>
          <a:xfrm>
            <a:off x="1275755" y="4330184"/>
            <a:ext cx="5921335" cy="302419"/>
          </a:xfrm>
          <a:prstGeom prst="rect">
            <a:avLst/>
          </a:prstGeom>
          <a:noFill/>
        </p:spPr>
        <p:txBody>
          <a:bodyPr wrap="non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Concurrent modification during iteration</a:t>
            </a:r>
            <a:endParaRPr lang="en-US" sz="1450" dirty="0"/>
          </a:p>
        </p:txBody>
      </p:sp>
      <p:sp>
        <p:nvSpPr>
          <p:cNvPr id="20" name="Shape 18"/>
          <p:cNvSpPr/>
          <p:nvPr/>
        </p:nvSpPr>
        <p:spPr>
          <a:xfrm>
            <a:off x="7433310" y="3856672"/>
            <a:ext cx="425291" cy="425291"/>
          </a:xfrm>
          <a:prstGeom prst="roundRect">
            <a:avLst>
              <a:gd name="adj" fmla="val 40001"/>
            </a:avLst>
          </a:prstGeom>
          <a:solidFill>
            <a:srgbClr val="CEE6FD"/>
          </a:solidFill>
        </p:spPr>
      </p:sp>
      <p:sp>
        <p:nvSpPr>
          <p:cNvPr id="21" name="Text 19"/>
          <p:cNvSpPr/>
          <p:nvPr/>
        </p:nvSpPr>
        <p:spPr>
          <a:xfrm>
            <a:off x="7504212" y="3892153"/>
            <a:ext cx="283488" cy="354330"/>
          </a:xfrm>
          <a:prstGeom prst="rect">
            <a:avLst/>
          </a:prstGeom>
          <a:noFill/>
        </p:spPr>
        <p:txBody>
          <a:bodyPr wrap="none" lIns="0" tIns="0" rIns="0" bIns="0" rtlCol="0" anchor="t"/>
          <a:lstStyle/>
          <a:p>
            <a:pPr marL="0" indent="0" algn="ctr">
              <a:lnSpc>
                <a:spcPts val="220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5</a:t>
            </a:r>
            <a:endParaRPr lang="en-US" sz="2200" dirty="0"/>
          </a:p>
        </p:txBody>
      </p:sp>
      <p:sp>
        <p:nvSpPr>
          <p:cNvPr id="22" name="Text 20"/>
          <p:cNvSpPr/>
          <p:nvPr/>
        </p:nvSpPr>
        <p:spPr>
          <a:xfrm>
            <a:off x="8047553" y="3921562"/>
            <a:ext cx="2516743" cy="295275"/>
          </a:xfrm>
          <a:prstGeom prst="rect">
            <a:avLst/>
          </a:prstGeom>
          <a:noFill/>
        </p:spPr>
        <p:txBody>
          <a:bodyPr wrap="none" lIns="0" tIns="0" rIns="0" bIns="0" rtlCol="0" anchor="t"/>
          <a:lstStyle/>
          <a:p>
            <a:pPr marL="0" indent="0" algn="l">
              <a:lnSpc>
                <a:spcPts val="2300"/>
              </a:lnSpc>
              <a:buNone/>
            </a:pPr>
            <a:r>
              <a:rPr lang="en-US" sz="1850" dirty="0">
                <a:solidFill>
                  <a:srgbClr val="1E3063"/>
                </a:solidFill>
                <a:latin typeface="Instrument Sans Semi Bold" pitchFamily="34" charset="0"/>
                <a:ea typeface="Instrument Sans Semi Bold" pitchFamily="34" charset="-122"/>
                <a:cs typeface="Instrument Sans Semi Bold" pitchFamily="34" charset="-120"/>
              </a:rPr>
              <a:t>Guarded-By Violations</a:t>
            </a:r>
            <a:endParaRPr lang="en-US" sz="1850" dirty="0"/>
          </a:p>
        </p:txBody>
      </p:sp>
      <p:sp>
        <p:nvSpPr>
          <p:cNvPr id="23" name="Text 21"/>
          <p:cNvSpPr/>
          <p:nvPr/>
        </p:nvSpPr>
        <p:spPr>
          <a:xfrm>
            <a:off x="8047553" y="4330184"/>
            <a:ext cx="5921335" cy="302419"/>
          </a:xfrm>
          <a:prstGeom prst="rect">
            <a:avLst/>
          </a:prstGeom>
          <a:noFill/>
        </p:spPr>
        <p:txBody>
          <a:bodyPr wrap="non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Accessing protected data without required locks</a:t>
            </a:r>
            <a:endParaRPr lang="en-US" sz="1450" dirty="0"/>
          </a:p>
        </p:txBody>
      </p:sp>
      <p:sp>
        <p:nvSpPr>
          <p:cNvPr id="24" name="Text 22"/>
          <p:cNvSpPr/>
          <p:nvPr/>
        </p:nvSpPr>
        <p:spPr>
          <a:xfrm>
            <a:off x="661511" y="4845248"/>
            <a:ext cx="13307378" cy="302419"/>
          </a:xfrm>
          <a:prstGeom prst="rect">
            <a:avLst/>
          </a:prstGeom>
          <a:noFill/>
        </p:spPr>
        <p:txBody>
          <a:bodyPr wrap="non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Each pattern is tested with </a:t>
            </a:r>
            <a:r>
              <a:rPr lang="en-US" sz="1450" b="1" dirty="0">
                <a:solidFill>
                  <a:srgbClr val="1E3063"/>
                </a:solidFill>
                <a:latin typeface="Instrument Sans Medium" pitchFamily="34" charset="0"/>
                <a:ea typeface="Instrument Sans Medium" pitchFamily="34" charset="-122"/>
                <a:cs typeface="Instrument Sans Medium" pitchFamily="34" charset="-120"/>
              </a:rPr>
              <a:t>flawed</a:t>
            </a:r>
            <a:r>
              <a:rPr lang="en-US" sz="1450" dirty="0">
                <a:solidFill>
                  <a:srgbClr val="1E3063"/>
                </a:solidFill>
                <a:latin typeface="Instrument Sans Medium" pitchFamily="34" charset="0"/>
                <a:ea typeface="Instrument Sans Medium" pitchFamily="34" charset="-122"/>
                <a:cs typeface="Instrument Sans Medium" pitchFamily="34" charset="-120"/>
              </a:rPr>
              <a:t> and </a:t>
            </a:r>
            <a:r>
              <a:rPr lang="en-US" sz="1450" b="1" dirty="0">
                <a:solidFill>
                  <a:srgbClr val="1E3063"/>
                </a:solidFill>
                <a:latin typeface="Instrument Sans Medium" pitchFamily="34" charset="0"/>
                <a:ea typeface="Instrument Sans Medium" pitchFamily="34" charset="-122"/>
                <a:cs typeface="Instrument Sans Medium" pitchFamily="34" charset="-120"/>
              </a:rPr>
              <a:t>corrected</a:t>
            </a:r>
            <a:r>
              <a:rPr lang="en-US" sz="1450" dirty="0">
                <a:solidFill>
                  <a:srgbClr val="1E3063"/>
                </a:solidFill>
                <a:latin typeface="Instrument Sans Medium" pitchFamily="34" charset="0"/>
                <a:ea typeface="Instrument Sans Medium" pitchFamily="34" charset="-122"/>
                <a:cs typeface="Instrument Sans Medium" pitchFamily="34" charset="-120"/>
              </a:rPr>
              <a:t> versions.</a:t>
            </a:r>
            <a:endParaRPr lang="en-US" sz="1450" dirty="0"/>
          </a:p>
        </p:txBody>
      </p:sp>
      <p:sp>
        <p:nvSpPr>
          <p:cNvPr id="25" name="Text 23"/>
          <p:cNvSpPr/>
          <p:nvPr/>
        </p:nvSpPr>
        <p:spPr>
          <a:xfrm>
            <a:off x="661511" y="5431155"/>
            <a:ext cx="3133844" cy="354330"/>
          </a:xfrm>
          <a:prstGeom prst="rect">
            <a:avLst/>
          </a:prstGeom>
          <a:noFill/>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Detection Performance</a:t>
            </a:r>
            <a:endParaRPr lang="en-US" sz="2200" dirty="0"/>
          </a:p>
        </p:txBody>
      </p:sp>
      <p:sp>
        <p:nvSpPr>
          <p:cNvPr id="26" name="Shape 24"/>
          <p:cNvSpPr/>
          <p:nvPr/>
        </p:nvSpPr>
        <p:spPr>
          <a:xfrm>
            <a:off x="661511" y="6068973"/>
            <a:ext cx="13307378" cy="1648301"/>
          </a:xfrm>
          <a:prstGeom prst="roundRect">
            <a:avLst>
              <a:gd name="adj" fmla="val 10321"/>
            </a:avLst>
          </a:prstGeom>
          <a:noFill/>
          <a:ln w="7620">
            <a:solidFill>
              <a:srgbClr val="000000">
                <a:alpha val="8000"/>
              </a:srgbClr>
            </a:solidFill>
            <a:prstDash val="solid"/>
          </a:ln>
        </p:spPr>
      </p:sp>
      <p:sp>
        <p:nvSpPr>
          <p:cNvPr id="27" name="Shape 25"/>
          <p:cNvSpPr/>
          <p:nvPr/>
        </p:nvSpPr>
        <p:spPr>
          <a:xfrm>
            <a:off x="669131" y="6076593"/>
            <a:ext cx="13292137" cy="544354"/>
          </a:xfrm>
          <a:prstGeom prst="rect">
            <a:avLst/>
          </a:prstGeom>
          <a:solidFill>
            <a:srgbClr val="FFFFFF">
              <a:alpha val="4000"/>
            </a:srgbClr>
          </a:solidFill>
        </p:spPr>
      </p:sp>
      <p:sp>
        <p:nvSpPr>
          <p:cNvPr id="28" name="Text 26"/>
          <p:cNvSpPr/>
          <p:nvPr/>
        </p:nvSpPr>
        <p:spPr>
          <a:xfrm>
            <a:off x="858083" y="6197560"/>
            <a:ext cx="2941320" cy="302419"/>
          </a:xfrm>
          <a:prstGeom prst="rect">
            <a:avLst/>
          </a:prstGeom>
          <a:noFill/>
        </p:spPr>
        <p:txBody>
          <a:bodyPr wrap="none" lIns="0" tIns="0" rIns="0" bIns="0" rtlCol="0" anchor="t"/>
          <a:lstStyle/>
          <a:p>
            <a:pPr marL="0" indent="0" algn="ctr">
              <a:lnSpc>
                <a:spcPts val="235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Pattern / Case</a:t>
            </a:r>
            <a:endParaRPr lang="en-US" sz="1450" dirty="0"/>
          </a:p>
        </p:txBody>
      </p:sp>
      <p:sp>
        <p:nvSpPr>
          <p:cNvPr id="29" name="Text 27"/>
          <p:cNvSpPr/>
          <p:nvPr/>
        </p:nvSpPr>
        <p:spPr>
          <a:xfrm>
            <a:off x="4184928" y="6197560"/>
            <a:ext cx="2937510" cy="302419"/>
          </a:xfrm>
          <a:prstGeom prst="rect">
            <a:avLst/>
          </a:prstGeom>
          <a:noFill/>
        </p:spPr>
        <p:txBody>
          <a:bodyPr wrap="none" lIns="0" tIns="0" rIns="0" bIns="0" rtlCol="0" anchor="t"/>
          <a:lstStyle/>
          <a:p>
            <a:pPr marL="0" indent="0" algn="ctr">
              <a:lnSpc>
                <a:spcPts val="235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SpotBugs</a:t>
            </a:r>
            <a:endParaRPr lang="en-US" sz="1450" dirty="0"/>
          </a:p>
        </p:txBody>
      </p:sp>
      <p:sp>
        <p:nvSpPr>
          <p:cNvPr id="30" name="Text 28"/>
          <p:cNvSpPr/>
          <p:nvPr/>
        </p:nvSpPr>
        <p:spPr>
          <a:xfrm>
            <a:off x="7507962" y="6197560"/>
            <a:ext cx="2937510" cy="302419"/>
          </a:xfrm>
          <a:prstGeom prst="rect">
            <a:avLst/>
          </a:prstGeom>
          <a:noFill/>
        </p:spPr>
        <p:txBody>
          <a:bodyPr wrap="none" lIns="0" tIns="0" rIns="0" bIns="0" rtlCol="0" anchor="t"/>
          <a:lstStyle/>
          <a:p>
            <a:pPr marL="0" indent="0" algn="ctr">
              <a:lnSpc>
                <a:spcPts val="235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SonarQube</a:t>
            </a:r>
            <a:endParaRPr lang="en-US" sz="1450" dirty="0"/>
          </a:p>
        </p:txBody>
      </p:sp>
      <p:sp>
        <p:nvSpPr>
          <p:cNvPr id="31" name="Text 29"/>
          <p:cNvSpPr/>
          <p:nvPr/>
        </p:nvSpPr>
        <p:spPr>
          <a:xfrm>
            <a:off x="10830997" y="6197560"/>
            <a:ext cx="2941320" cy="302419"/>
          </a:xfrm>
          <a:prstGeom prst="rect">
            <a:avLst/>
          </a:prstGeom>
          <a:noFill/>
        </p:spPr>
        <p:txBody>
          <a:bodyPr wrap="none" lIns="0" tIns="0" rIns="0" bIns="0" rtlCol="0" anchor="t"/>
          <a:lstStyle/>
          <a:p>
            <a:pPr marL="0" indent="0" algn="ctr">
              <a:lnSpc>
                <a:spcPts val="235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Infer</a:t>
            </a:r>
            <a:endParaRPr lang="en-US" sz="1450" dirty="0"/>
          </a:p>
        </p:txBody>
      </p:sp>
      <p:sp>
        <p:nvSpPr>
          <p:cNvPr id="32" name="Shape 30"/>
          <p:cNvSpPr/>
          <p:nvPr/>
        </p:nvSpPr>
        <p:spPr>
          <a:xfrm>
            <a:off x="669131" y="6620947"/>
            <a:ext cx="13292137" cy="544354"/>
          </a:xfrm>
          <a:prstGeom prst="rect">
            <a:avLst/>
          </a:prstGeom>
          <a:solidFill>
            <a:srgbClr val="000000">
              <a:alpha val="4000"/>
            </a:srgbClr>
          </a:solidFill>
        </p:spPr>
      </p:sp>
      <p:sp>
        <p:nvSpPr>
          <p:cNvPr id="33" name="Text 31"/>
          <p:cNvSpPr/>
          <p:nvPr/>
        </p:nvSpPr>
        <p:spPr>
          <a:xfrm>
            <a:off x="858083" y="6741914"/>
            <a:ext cx="294132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Double-Checked Locking</a:t>
            </a:r>
            <a:endParaRPr lang="en-US" sz="1450" dirty="0"/>
          </a:p>
        </p:txBody>
      </p:sp>
      <p:sp>
        <p:nvSpPr>
          <p:cNvPr id="34" name="Text 32"/>
          <p:cNvSpPr/>
          <p:nvPr/>
        </p:nvSpPr>
        <p:spPr>
          <a:xfrm>
            <a:off x="4184928" y="6741914"/>
            <a:ext cx="293751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t>
            </a:r>
            <a:endParaRPr lang="en-US" sz="1450" dirty="0"/>
          </a:p>
        </p:txBody>
      </p:sp>
      <p:sp>
        <p:nvSpPr>
          <p:cNvPr id="35" name="Text 33"/>
          <p:cNvSpPr/>
          <p:nvPr/>
        </p:nvSpPr>
        <p:spPr>
          <a:xfrm>
            <a:off x="7507962" y="6741914"/>
            <a:ext cx="293751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t>
            </a:r>
            <a:endParaRPr lang="en-US" sz="1450" dirty="0"/>
          </a:p>
        </p:txBody>
      </p:sp>
      <p:sp>
        <p:nvSpPr>
          <p:cNvPr id="36" name="Text 34"/>
          <p:cNvSpPr/>
          <p:nvPr/>
        </p:nvSpPr>
        <p:spPr>
          <a:xfrm>
            <a:off x="10830997" y="6741914"/>
            <a:ext cx="294132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t>
            </a:r>
            <a:endParaRPr lang="en-US" sz="1450" dirty="0"/>
          </a:p>
        </p:txBody>
      </p:sp>
      <p:sp>
        <p:nvSpPr>
          <p:cNvPr id="37" name="Shape 35"/>
          <p:cNvSpPr/>
          <p:nvPr/>
        </p:nvSpPr>
        <p:spPr>
          <a:xfrm>
            <a:off x="669131" y="7165300"/>
            <a:ext cx="13292137" cy="544354"/>
          </a:xfrm>
          <a:prstGeom prst="rect">
            <a:avLst/>
          </a:prstGeom>
          <a:solidFill>
            <a:srgbClr val="FFFFFF">
              <a:alpha val="4000"/>
            </a:srgbClr>
          </a:solidFill>
        </p:spPr>
      </p:sp>
      <p:sp>
        <p:nvSpPr>
          <p:cNvPr id="38" name="Text 36"/>
          <p:cNvSpPr/>
          <p:nvPr/>
        </p:nvSpPr>
        <p:spPr>
          <a:xfrm>
            <a:off x="858083" y="7286268"/>
            <a:ext cx="294132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Unsafe Publication</a:t>
            </a:r>
            <a:endParaRPr lang="en-US" sz="1450" dirty="0"/>
          </a:p>
        </p:txBody>
      </p:sp>
      <p:sp>
        <p:nvSpPr>
          <p:cNvPr id="39" name="Text 37"/>
          <p:cNvSpPr/>
          <p:nvPr/>
        </p:nvSpPr>
        <p:spPr>
          <a:xfrm>
            <a:off x="4184928" y="7286268"/>
            <a:ext cx="293751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t>
            </a:r>
            <a:endParaRPr lang="en-US" sz="1450" dirty="0"/>
          </a:p>
        </p:txBody>
      </p:sp>
      <p:sp>
        <p:nvSpPr>
          <p:cNvPr id="40" name="Text 38"/>
          <p:cNvSpPr/>
          <p:nvPr/>
        </p:nvSpPr>
        <p:spPr>
          <a:xfrm>
            <a:off x="7507962" y="7286268"/>
            <a:ext cx="293751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t>
            </a:r>
            <a:endParaRPr lang="en-US" sz="1450" dirty="0"/>
          </a:p>
        </p:txBody>
      </p:sp>
      <p:sp>
        <p:nvSpPr>
          <p:cNvPr id="41" name="Text 39"/>
          <p:cNvSpPr/>
          <p:nvPr/>
        </p:nvSpPr>
        <p:spPr>
          <a:xfrm>
            <a:off x="10830997" y="7286268"/>
            <a:ext cx="2941320" cy="302419"/>
          </a:xfrm>
          <a:prstGeom prst="rect">
            <a:avLst/>
          </a:prstGeom>
          <a:noFill/>
        </p:spPr>
        <p:txBody>
          <a:bodyPr wrap="none" lIns="0" tIns="0" rIns="0" bIns="0" rtlCol="0" anchor="t"/>
          <a:lstStyle/>
          <a:p>
            <a:pPr marL="0" indent="0" algn="ctr">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t>
            </a:r>
            <a:endParaRPr lang="en-US" sz="145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3058" y="513159"/>
            <a:ext cx="6112907" cy="583049"/>
          </a:xfrm>
          <a:prstGeom prst="rect">
            <a:avLst/>
          </a:prstGeom>
          <a:noFill/>
        </p:spPr>
        <p:txBody>
          <a:bodyPr wrap="none" lIns="0" tIns="0" rIns="0" bIns="0" rtlCol="0" anchor="t"/>
          <a:lstStyle/>
          <a:p>
            <a:pPr marL="0" indent="0" algn="l">
              <a:lnSpc>
                <a:spcPts val="4550"/>
              </a:lnSpc>
              <a:buNone/>
            </a:pPr>
            <a:r>
              <a:rPr lang="en-US" sz="3650" dirty="0">
                <a:solidFill>
                  <a:srgbClr val="091C53"/>
                </a:solidFill>
                <a:latin typeface="Instrument Sans Semi Bold" pitchFamily="34" charset="0"/>
                <a:ea typeface="Instrument Sans Semi Bold" pitchFamily="34" charset="-122"/>
                <a:cs typeface="Instrument Sans Semi Bold" pitchFamily="34" charset="-120"/>
              </a:rPr>
              <a:t>Real-World CVE Case Study</a:t>
            </a:r>
            <a:endParaRPr lang="en-US" sz="3650" dirty="0"/>
          </a:p>
        </p:txBody>
      </p:sp>
      <p:sp>
        <p:nvSpPr>
          <p:cNvPr id="3" name="Shape 1"/>
          <p:cNvSpPr/>
          <p:nvPr/>
        </p:nvSpPr>
        <p:spPr>
          <a:xfrm>
            <a:off x="653058" y="1469350"/>
            <a:ext cx="6568916" cy="1373505"/>
          </a:xfrm>
          <a:prstGeom prst="roundRect">
            <a:avLst>
              <a:gd name="adj" fmla="val 12228"/>
            </a:avLst>
          </a:prstGeom>
          <a:solidFill>
            <a:srgbClr val="CEE6FD"/>
          </a:solidFill>
        </p:spPr>
      </p:sp>
      <p:sp>
        <p:nvSpPr>
          <p:cNvPr id="4" name="Text 2"/>
          <p:cNvSpPr/>
          <p:nvPr/>
        </p:nvSpPr>
        <p:spPr>
          <a:xfrm>
            <a:off x="839629" y="1655921"/>
            <a:ext cx="2332553" cy="291465"/>
          </a:xfrm>
          <a:prstGeom prst="rect">
            <a:avLst/>
          </a:prstGeom>
          <a:noFill/>
        </p:spPr>
        <p:txBody>
          <a:bodyPr wrap="none" lIns="0" tIns="0" rIns="0" bIns="0" rtlCol="0" anchor="t"/>
          <a:lstStyle/>
          <a:p>
            <a:pPr marL="0" indent="0" algn="l">
              <a:lnSpc>
                <a:spcPts val="225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CVE-2024-7885</a:t>
            </a:r>
            <a:endParaRPr lang="en-US" sz="1800" dirty="0"/>
          </a:p>
        </p:txBody>
      </p:sp>
      <p:sp>
        <p:nvSpPr>
          <p:cNvPr id="5" name="Text 3"/>
          <p:cNvSpPr/>
          <p:nvPr/>
        </p:nvSpPr>
        <p:spPr>
          <a:xfrm>
            <a:off x="839629" y="2059305"/>
            <a:ext cx="6195774" cy="298490"/>
          </a:xfrm>
          <a:prstGeom prst="rect">
            <a:avLst/>
          </a:prstGeom>
          <a:noFill/>
        </p:spPr>
        <p:txBody>
          <a:bodyPr wrap="non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Unsynchronized StringBuilder access vulnerability</a:t>
            </a:r>
            <a:endParaRPr lang="en-US" sz="1450" dirty="0"/>
          </a:p>
        </p:txBody>
      </p:sp>
      <p:sp>
        <p:nvSpPr>
          <p:cNvPr id="6" name="Shape 4"/>
          <p:cNvSpPr/>
          <p:nvPr/>
        </p:nvSpPr>
        <p:spPr>
          <a:xfrm>
            <a:off x="7408545" y="1469350"/>
            <a:ext cx="6568916" cy="1373505"/>
          </a:xfrm>
          <a:prstGeom prst="roundRect">
            <a:avLst>
              <a:gd name="adj" fmla="val 12228"/>
            </a:avLst>
          </a:prstGeom>
          <a:solidFill>
            <a:srgbClr val="CEE6FD"/>
          </a:solidFill>
        </p:spPr>
      </p:sp>
      <p:sp>
        <p:nvSpPr>
          <p:cNvPr id="7" name="Text 5"/>
          <p:cNvSpPr/>
          <p:nvPr/>
        </p:nvSpPr>
        <p:spPr>
          <a:xfrm>
            <a:off x="7595116" y="1655921"/>
            <a:ext cx="2591633" cy="291465"/>
          </a:xfrm>
          <a:prstGeom prst="rect">
            <a:avLst/>
          </a:prstGeom>
          <a:noFill/>
        </p:spPr>
        <p:txBody>
          <a:bodyPr wrap="none" lIns="0" tIns="0" rIns="0" bIns="0" rtlCol="0" anchor="t"/>
          <a:lstStyle/>
          <a:p>
            <a:pPr marL="0" indent="0" algn="l">
              <a:lnSpc>
                <a:spcPts val="2250"/>
              </a:lnSpc>
              <a:buNone/>
            </a:pPr>
            <a:r>
              <a:rPr lang="en-US" sz="1800" dirty="0">
                <a:solidFill>
                  <a:srgbClr val="1E3063"/>
                </a:solidFill>
                <a:latin typeface="Instrument Sans Semi Bold" pitchFamily="34" charset="0"/>
                <a:ea typeface="Instrument Sans Semi Bold" pitchFamily="34" charset="-122"/>
                <a:cs typeface="Instrument Sans Semi Bold" pitchFamily="34" charset="-120"/>
              </a:rPr>
              <a:t>Flawed Implementation</a:t>
            </a:r>
            <a:endParaRPr lang="en-US" sz="1800" dirty="0"/>
          </a:p>
        </p:txBody>
      </p:sp>
      <p:sp>
        <p:nvSpPr>
          <p:cNvPr id="8" name="Text 6"/>
          <p:cNvSpPr/>
          <p:nvPr/>
        </p:nvSpPr>
        <p:spPr>
          <a:xfrm>
            <a:off x="7595116" y="2059305"/>
            <a:ext cx="6195774" cy="596979"/>
          </a:xfrm>
          <a:prstGeom prst="rect">
            <a:avLst/>
          </a:prstGeom>
          <a:noFill/>
        </p:spPr>
        <p:txBody>
          <a:bodyPr wrap="squar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Two threads concurrently access shared StringBuilder without synchronization</a:t>
            </a:r>
            <a:endParaRPr lang="en-US" sz="1450" dirty="0"/>
          </a:p>
        </p:txBody>
      </p:sp>
      <p:sp>
        <p:nvSpPr>
          <p:cNvPr id="9" name="Text 7"/>
          <p:cNvSpPr/>
          <p:nvPr/>
        </p:nvSpPr>
        <p:spPr>
          <a:xfrm>
            <a:off x="653058" y="3122652"/>
            <a:ext cx="3741539" cy="349806"/>
          </a:xfrm>
          <a:prstGeom prst="rect">
            <a:avLst/>
          </a:prstGeom>
          <a:noFill/>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WebSocket Race Conditions</a:t>
            </a:r>
            <a:endParaRPr lang="en-US" sz="2200" dirty="0"/>
          </a:p>
        </p:txBody>
      </p:sp>
      <p:sp>
        <p:nvSpPr>
          <p:cNvPr id="10" name="Text 8"/>
          <p:cNvSpPr/>
          <p:nvPr/>
        </p:nvSpPr>
        <p:spPr>
          <a:xfrm>
            <a:off x="653058" y="3938826"/>
            <a:ext cx="2591633" cy="291465"/>
          </a:xfrm>
          <a:prstGeom prst="rect">
            <a:avLst/>
          </a:prstGeom>
          <a:noFill/>
        </p:spPr>
        <p:txBody>
          <a:bodyPr wrap="none" lIns="0" tIns="0" rIns="0" bIns="0" rtlCol="0" anchor="t"/>
          <a:lstStyle/>
          <a:p>
            <a:pPr marL="0" indent="0" algn="l">
              <a:lnSpc>
                <a:spcPts val="2250"/>
              </a:lnSpc>
              <a:buNone/>
            </a:pPr>
            <a:r>
              <a:rPr lang="en-US" sz="1800" dirty="0">
                <a:solidFill>
                  <a:srgbClr val="091C53"/>
                </a:solidFill>
                <a:latin typeface="Instrument Sans Semi Bold" pitchFamily="34" charset="0"/>
                <a:ea typeface="Instrument Sans Semi Bold" pitchFamily="34" charset="-122"/>
                <a:cs typeface="Instrument Sans Semi Bold" pitchFamily="34" charset="-120"/>
              </a:rPr>
              <a:t>Flawed Implementation</a:t>
            </a:r>
            <a:endParaRPr lang="en-US" sz="1800" dirty="0"/>
          </a:p>
        </p:txBody>
      </p:sp>
      <p:sp>
        <p:nvSpPr>
          <p:cNvPr id="11" name="Text 9"/>
          <p:cNvSpPr/>
          <p:nvPr/>
        </p:nvSpPr>
        <p:spPr>
          <a:xfrm>
            <a:off x="653058" y="4416862"/>
            <a:ext cx="6434495" cy="596979"/>
          </a:xfrm>
          <a:prstGeom prst="rect">
            <a:avLst/>
          </a:prstGeom>
          <a:noFill/>
        </p:spPr>
        <p:txBody>
          <a:bodyPr wrap="squar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a single WebSocketClient is shared across multiple threads with concurrent send calls</a:t>
            </a:r>
            <a:endParaRPr lang="en-US" sz="1450" dirty="0"/>
          </a:p>
        </p:txBody>
      </p:sp>
      <p:sp>
        <p:nvSpPr>
          <p:cNvPr id="12" name="Text 10"/>
          <p:cNvSpPr/>
          <p:nvPr/>
        </p:nvSpPr>
        <p:spPr>
          <a:xfrm>
            <a:off x="7550468" y="3938826"/>
            <a:ext cx="2332553" cy="291465"/>
          </a:xfrm>
          <a:prstGeom prst="rect">
            <a:avLst/>
          </a:prstGeom>
          <a:noFill/>
        </p:spPr>
        <p:txBody>
          <a:bodyPr wrap="none" lIns="0" tIns="0" rIns="0" bIns="0" rtlCol="0" anchor="t"/>
          <a:lstStyle/>
          <a:p>
            <a:pPr marL="0" indent="0" algn="l">
              <a:lnSpc>
                <a:spcPts val="2250"/>
              </a:lnSpc>
              <a:buNone/>
            </a:pPr>
            <a:r>
              <a:rPr lang="en-US" sz="1800" dirty="0">
                <a:solidFill>
                  <a:srgbClr val="091C53"/>
                </a:solidFill>
                <a:latin typeface="Instrument Sans Semi Bold" pitchFamily="34" charset="0"/>
                <a:ea typeface="Instrument Sans Semi Bold" pitchFamily="34" charset="-122"/>
                <a:cs typeface="Instrument Sans Semi Bold" pitchFamily="34" charset="-120"/>
              </a:rPr>
              <a:t>Corrected Baseline</a:t>
            </a:r>
            <a:endParaRPr lang="en-US" sz="1800" dirty="0"/>
          </a:p>
        </p:txBody>
      </p:sp>
      <p:sp>
        <p:nvSpPr>
          <p:cNvPr id="13" name="Text 11"/>
          <p:cNvSpPr/>
          <p:nvPr/>
        </p:nvSpPr>
        <p:spPr>
          <a:xfrm>
            <a:off x="7550468" y="4416862"/>
            <a:ext cx="6434495" cy="298490"/>
          </a:xfrm>
          <a:prstGeom prst="rect">
            <a:avLst/>
          </a:prstGeom>
          <a:noFill/>
        </p:spPr>
        <p:txBody>
          <a:bodyPr wrap="none" lIns="0" tIns="0" rIns="0" bIns="0" rtlCol="0" anchor="t"/>
          <a:lstStyle/>
          <a:p>
            <a:pPr marL="0" indent="0" algn="l">
              <a:lnSpc>
                <a:spcPts val="235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Each thread uses a dedicated WebSocketClient connection.</a:t>
            </a:r>
            <a:endParaRPr lang="en-US" sz="1450" dirty="0"/>
          </a:p>
        </p:txBody>
      </p:sp>
      <p:sp>
        <p:nvSpPr>
          <p:cNvPr id="14" name="Text 12"/>
          <p:cNvSpPr/>
          <p:nvPr/>
        </p:nvSpPr>
        <p:spPr>
          <a:xfrm>
            <a:off x="653058" y="5461516"/>
            <a:ext cx="3094315" cy="349806"/>
          </a:xfrm>
          <a:prstGeom prst="rect">
            <a:avLst/>
          </a:prstGeom>
          <a:noFill/>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Detection Performance</a:t>
            </a:r>
            <a:endParaRPr lang="en-US" sz="2200" dirty="0"/>
          </a:p>
        </p:txBody>
      </p:sp>
      <p:sp>
        <p:nvSpPr>
          <p:cNvPr id="15" name="Shape 13"/>
          <p:cNvSpPr/>
          <p:nvPr/>
        </p:nvSpPr>
        <p:spPr>
          <a:xfrm>
            <a:off x="653058" y="6091118"/>
            <a:ext cx="13324284" cy="1627942"/>
          </a:xfrm>
          <a:prstGeom prst="roundRect">
            <a:avLst>
              <a:gd name="adj" fmla="val 10317"/>
            </a:avLst>
          </a:prstGeom>
          <a:noFill/>
          <a:ln w="7620">
            <a:solidFill>
              <a:srgbClr val="000000">
                <a:alpha val="8000"/>
              </a:srgbClr>
            </a:solidFill>
            <a:prstDash val="solid"/>
          </a:ln>
        </p:spPr>
      </p:sp>
      <p:sp>
        <p:nvSpPr>
          <p:cNvPr id="16" name="Shape 14"/>
          <p:cNvSpPr/>
          <p:nvPr/>
        </p:nvSpPr>
        <p:spPr>
          <a:xfrm>
            <a:off x="660678" y="6098738"/>
            <a:ext cx="13309044" cy="537567"/>
          </a:xfrm>
          <a:prstGeom prst="rect">
            <a:avLst/>
          </a:prstGeom>
          <a:solidFill>
            <a:srgbClr val="FFFFFF">
              <a:alpha val="4000"/>
            </a:srgbClr>
          </a:solidFill>
        </p:spPr>
      </p:sp>
      <p:sp>
        <p:nvSpPr>
          <p:cNvPr id="17" name="Text 15"/>
          <p:cNvSpPr/>
          <p:nvPr/>
        </p:nvSpPr>
        <p:spPr>
          <a:xfrm>
            <a:off x="847487" y="6218277"/>
            <a:ext cx="2950250" cy="298490"/>
          </a:xfrm>
          <a:prstGeom prst="rect">
            <a:avLst/>
          </a:prstGeom>
          <a:noFill/>
        </p:spPr>
        <p:txBody>
          <a:bodyPr wrap="none" lIns="0" tIns="0" rIns="0" bIns="0" rtlCol="0" anchor="t"/>
          <a:lstStyle/>
          <a:p>
            <a:pPr marL="0" indent="0" algn="ctr">
              <a:lnSpc>
                <a:spcPts val="2350"/>
              </a:lnSpc>
              <a:buNone/>
            </a:pPr>
            <a:r>
              <a:rPr lang="en-US" sz="1450" b="1" dirty="0">
                <a:solidFill>
                  <a:srgbClr val="000E21"/>
                </a:solidFill>
                <a:latin typeface="Instrument Sans Medium" pitchFamily="34" charset="0"/>
                <a:ea typeface="Instrument Sans Medium" pitchFamily="34" charset="-122"/>
                <a:cs typeface="Instrument Sans Medium" pitchFamily="34" charset="-120"/>
              </a:rPr>
              <a:t>Pattern / Case</a:t>
            </a:r>
            <a:endParaRPr lang="en-US" sz="1450" dirty="0"/>
          </a:p>
        </p:txBody>
      </p:sp>
      <p:sp>
        <p:nvSpPr>
          <p:cNvPr id="18" name="Text 16"/>
          <p:cNvSpPr/>
          <p:nvPr/>
        </p:nvSpPr>
        <p:spPr>
          <a:xfrm>
            <a:off x="4178498" y="6218277"/>
            <a:ext cx="2946440" cy="298490"/>
          </a:xfrm>
          <a:prstGeom prst="rect">
            <a:avLst/>
          </a:prstGeom>
          <a:noFill/>
        </p:spPr>
        <p:txBody>
          <a:bodyPr wrap="none" lIns="0" tIns="0" rIns="0" bIns="0" rtlCol="0" anchor="t"/>
          <a:lstStyle/>
          <a:p>
            <a:pPr marL="0" indent="0" algn="ctr">
              <a:lnSpc>
                <a:spcPts val="2350"/>
              </a:lnSpc>
              <a:buNone/>
            </a:pPr>
            <a:r>
              <a:rPr lang="en-US" sz="1450" b="1" dirty="0">
                <a:solidFill>
                  <a:srgbClr val="000E21"/>
                </a:solidFill>
                <a:latin typeface="Instrument Sans Medium" pitchFamily="34" charset="0"/>
                <a:ea typeface="Instrument Sans Medium" pitchFamily="34" charset="-122"/>
                <a:cs typeface="Instrument Sans Medium" pitchFamily="34" charset="-120"/>
              </a:rPr>
              <a:t>SpotBugs</a:t>
            </a:r>
            <a:endParaRPr lang="en-US" sz="1450" dirty="0"/>
          </a:p>
        </p:txBody>
      </p:sp>
      <p:sp>
        <p:nvSpPr>
          <p:cNvPr id="19" name="Text 17"/>
          <p:cNvSpPr/>
          <p:nvPr/>
        </p:nvSpPr>
        <p:spPr>
          <a:xfrm>
            <a:off x="7505700" y="6218277"/>
            <a:ext cx="2946440" cy="298490"/>
          </a:xfrm>
          <a:prstGeom prst="rect">
            <a:avLst/>
          </a:prstGeom>
          <a:noFill/>
        </p:spPr>
        <p:txBody>
          <a:bodyPr wrap="none" lIns="0" tIns="0" rIns="0" bIns="0" rtlCol="0" anchor="t"/>
          <a:lstStyle/>
          <a:p>
            <a:pPr marL="0" indent="0" algn="ctr">
              <a:lnSpc>
                <a:spcPts val="2350"/>
              </a:lnSpc>
              <a:buNone/>
            </a:pPr>
            <a:r>
              <a:rPr lang="en-US" sz="1450" b="1" dirty="0">
                <a:solidFill>
                  <a:srgbClr val="000E21"/>
                </a:solidFill>
                <a:latin typeface="Instrument Sans Medium" pitchFamily="34" charset="0"/>
                <a:ea typeface="Instrument Sans Medium" pitchFamily="34" charset="-122"/>
                <a:cs typeface="Instrument Sans Medium" pitchFamily="34" charset="-120"/>
              </a:rPr>
              <a:t>SonarQube</a:t>
            </a:r>
            <a:endParaRPr lang="en-US" sz="1450" dirty="0"/>
          </a:p>
        </p:txBody>
      </p:sp>
      <p:sp>
        <p:nvSpPr>
          <p:cNvPr id="20" name="Text 18"/>
          <p:cNvSpPr/>
          <p:nvPr/>
        </p:nvSpPr>
        <p:spPr>
          <a:xfrm>
            <a:off x="10832902" y="6218277"/>
            <a:ext cx="2950250" cy="298490"/>
          </a:xfrm>
          <a:prstGeom prst="rect">
            <a:avLst/>
          </a:prstGeom>
          <a:noFill/>
        </p:spPr>
        <p:txBody>
          <a:bodyPr wrap="none" lIns="0" tIns="0" rIns="0" bIns="0" rtlCol="0" anchor="t"/>
          <a:lstStyle/>
          <a:p>
            <a:pPr marL="0" indent="0" algn="ctr">
              <a:lnSpc>
                <a:spcPts val="2350"/>
              </a:lnSpc>
              <a:buNone/>
            </a:pPr>
            <a:r>
              <a:rPr lang="en-US" sz="1450" b="1" dirty="0">
                <a:solidFill>
                  <a:srgbClr val="000E21"/>
                </a:solidFill>
                <a:latin typeface="Instrument Sans Medium" pitchFamily="34" charset="0"/>
                <a:ea typeface="Instrument Sans Medium" pitchFamily="34" charset="-122"/>
                <a:cs typeface="Instrument Sans Medium" pitchFamily="34" charset="-120"/>
              </a:rPr>
              <a:t>Infer</a:t>
            </a:r>
            <a:endParaRPr lang="en-US" sz="1450" dirty="0"/>
          </a:p>
        </p:txBody>
      </p:sp>
      <p:sp>
        <p:nvSpPr>
          <p:cNvPr id="21" name="Shape 19"/>
          <p:cNvSpPr/>
          <p:nvPr/>
        </p:nvSpPr>
        <p:spPr>
          <a:xfrm>
            <a:off x="660678" y="6636306"/>
            <a:ext cx="13309044" cy="537567"/>
          </a:xfrm>
          <a:prstGeom prst="rect">
            <a:avLst/>
          </a:prstGeom>
          <a:solidFill>
            <a:srgbClr val="000000">
              <a:alpha val="4000"/>
            </a:srgbClr>
          </a:solidFill>
        </p:spPr>
      </p:sp>
      <p:sp>
        <p:nvSpPr>
          <p:cNvPr id="22" name="Text 20"/>
          <p:cNvSpPr/>
          <p:nvPr/>
        </p:nvSpPr>
        <p:spPr>
          <a:xfrm>
            <a:off x="847487" y="6755844"/>
            <a:ext cx="295025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CVE-2024-7885</a:t>
            </a:r>
            <a:endParaRPr lang="en-US" sz="1450" dirty="0"/>
          </a:p>
        </p:txBody>
      </p:sp>
      <p:sp>
        <p:nvSpPr>
          <p:cNvPr id="23" name="Text 21"/>
          <p:cNvSpPr/>
          <p:nvPr/>
        </p:nvSpPr>
        <p:spPr>
          <a:xfrm>
            <a:off x="4178498" y="6755844"/>
            <a:ext cx="294644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a:t>
            </a:r>
            <a:endParaRPr lang="en-US" sz="1450" dirty="0"/>
          </a:p>
        </p:txBody>
      </p:sp>
      <p:sp>
        <p:nvSpPr>
          <p:cNvPr id="24" name="Text 22"/>
          <p:cNvSpPr/>
          <p:nvPr/>
        </p:nvSpPr>
        <p:spPr>
          <a:xfrm>
            <a:off x="7505700" y="6755844"/>
            <a:ext cx="294644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a:t>
            </a:r>
            <a:endParaRPr lang="en-US" sz="1450" dirty="0"/>
          </a:p>
        </p:txBody>
      </p:sp>
      <p:sp>
        <p:nvSpPr>
          <p:cNvPr id="25" name="Text 23"/>
          <p:cNvSpPr/>
          <p:nvPr/>
        </p:nvSpPr>
        <p:spPr>
          <a:xfrm>
            <a:off x="10832902" y="6755844"/>
            <a:ext cx="295025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a:t>
            </a:r>
            <a:endParaRPr lang="en-US" sz="1450" dirty="0"/>
          </a:p>
        </p:txBody>
      </p:sp>
      <p:sp>
        <p:nvSpPr>
          <p:cNvPr id="26" name="Shape 24"/>
          <p:cNvSpPr/>
          <p:nvPr/>
        </p:nvSpPr>
        <p:spPr>
          <a:xfrm>
            <a:off x="660678" y="7173873"/>
            <a:ext cx="13309044" cy="537567"/>
          </a:xfrm>
          <a:prstGeom prst="rect">
            <a:avLst/>
          </a:prstGeom>
          <a:solidFill>
            <a:srgbClr val="FFFFFF">
              <a:alpha val="4000"/>
            </a:srgbClr>
          </a:solidFill>
        </p:spPr>
      </p:sp>
      <p:sp>
        <p:nvSpPr>
          <p:cNvPr id="27" name="Text 25"/>
          <p:cNvSpPr/>
          <p:nvPr/>
        </p:nvSpPr>
        <p:spPr>
          <a:xfrm>
            <a:off x="847487" y="7293412"/>
            <a:ext cx="295025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WebSocket Race</a:t>
            </a:r>
            <a:endParaRPr lang="en-US" sz="1450" dirty="0"/>
          </a:p>
        </p:txBody>
      </p:sp>
      <p:sp>
        <p:nvSpPr>
          <p:cNvPr id="28" name="Text 26"/>
          <p:cNvSpPr/>
          <p:nvPr/>
        </p:nvSpPr>
        <p:spPr>
          <a:xfrm>
            <a:off x="4178498" y="7293412"/>
            <a:ext cx="294644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a:t>
            </a:r>
            <a:endParaRPr lang="en-US" sz="1450" dirty="0"/>
          </a:p>
        </p:txBody>
      </p:sp>
      <p:sp>
        <p:nvSpPr>
          <p:cNvPr id="29" name="Text 27"/>
          <p:cNvSpPr/>
          <p:nvPr/>
        </p:nvSpPr>
        <p:spPr>
          <a:xfrm>
            <a:off x="7505700" y="7293412"/>
            <a:ext cx="294644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a:t>
            </a:r>
            <a:endParaRPr lang="en-US" sz="1450" dirty="0"/>
          </a:p>
        </p:txBody>
      </p:sp>
      <p:sp>
        <p:nvSpPr>
          <p:cNvPr id="30" name="Text 28"/>
          <p:cNvSpPr/>
          <p:nvPr/>
        </p:nvSpPr>
        <p:spPr>
          <a:xfrm>
            <a:off x="10832902" y="7293412"/>
            <a:ext cx="2950250" cy="298490"/>
          </a:xfrm>
          <a:prstGeom prst="rect">
            <a:avLst/>
          </a:prstGeom>
          <a:noFill/>
        </p:spPr>
        <p:txBody>
          <a:bodyPr wrap="none" lIns="0" tIns="0" rIns="0" bIns="0" rtlCol="0" anchor="t"/>
          <a:lstStyle/>
          <a:p>
            <a:pPr marL="0" indent="0" algn="ctr">
              <a:lnSpc>
                <a:spcPts val="2350"/>
              </a:lnSpc>
              <a:buNone/>
            </a:pPr>
            <a:r>
              <a:rPr lang="en-US" sz="1450" dirty="0">
                <a:solidFill>
                  <a:srgbClr val="000E21"/>
                </a:solidFill>
                <a:latin typeface="Instrument Sans Medium" pitchFamily="34" charset="0"/>
                <a:ea typeface="Instrument Sans Medium" pitchFamily="34" charset="-122"/>
                <a:cs typeface="Instrument Sans Medium" pitchFamily="34" charset="-120"/>
              </a:rPr>
              <a:t>×</a:t>
            </a:r>
            <a:endParaRPr lang="en-US" sz="145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8770" y="501848"/>
            <a:ext cx="6971109" cy="570428"/>
          </a:xfrm>
          <a:prstGeom prst="rect">
            <a:avLst/>
          </a:prstGeom>
          <a:noFill/>
        </p:spPr>
        <p:txBody>
          <a:bodyPr wrap="none" lIns="0" tIns="0" rIns="0" bIns="0" rtlCol="0" anchor="t"/>
          <a:lstStyle/>
          <a:p>
            <a:pPr marL="0" indent="0" algn="l">
              <a:lnSpc>
                <a:spcPts val="445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Common Race Patterns Analysis</a:t>
            </a:r>
            <a:endParaRPr lang="en-US" sz="3550" dirty="0"/>
          </a:p>
        </p:txBody>
      </p:sp>
      <p:pic>
        <p:nvPicPr>
          <p:cNvPr id="3" name="Image 0" descr="preencoded.png"/>
          <p:cNvPicPr>
            <a:picLocks noChangeAspect="1"/>
          </p:cNvPicPr>
          <p:nvPr/>
        </p:nvPicPr>
        <p:blipFill>
          <a:blip r:embed="rId1"/>
          <a:stretch>
            <a:fillRect/>
          </a:stretch>
        </p:blipFill>
        <p:spPr>
          <a:xfrm>
            <a:off x="638770" y="1437323"/>
            <a:ext cx="912614" cy="1095137"/>
          </a:xfrm>
          <a:prstGeom prst="rect">
            <a:avLst/>
          </a:prstGeom>
        </p:spPr>
      </p:pic>
      <p:sp>
        <p:nvSpPr>
          <p:cNvPr id="4" name="Text 1"/>
          <p:cNvSpPr/>
          <p:nvPr/>
        </p:nvSpPr>
        <p:spPr>
          <a:xfrm>
            <a:off x="1825109" y="1619845"/>
            <a:ext cx="2549128" cy="285155"/>
          </a:xfrm>
          <a:prstGeom prst="rect">
            <a:avLst/>
          </a:prstGeom>
          <a:noFill/>
        </p:spPr>
        <p:txBody>
          <a:bodyPr wrap="none" lIns="0" tIns="0" rIns="0" bIns="0" rtlCol="0" anchor="t"/>
          <a:lstStyle/>
          <a:p>
            <a:pPr marL="0" indent="0" algn="l">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Non-Atomic Operations</a:t>
            </a:r>
            <a:endParaRPr lang="en-US" sz="1750" dirty="0"/>
          </a:p>
        </p:txBody>
      </p:sp>
      <p:sp>
        <p:nvSpPr>
          <p:cNvPr id="5" name="Text 2"/>
          <p:cNvSpPr/>
          <p:nvPr/>
        </p:nvSpPr>
        <p:spPr>
          <a:xfrm>
            <a:off x="1825109" y="2014418"/>
            <a:ext cx="12166521" cy="291941"/>
          </a:xfrm>
          <a:prstGeom prst="rect">
            <a:avLst/>
          </a:prstGeom>
          <a:noFill/>
        </p:spPr>
        <p:txBody>
          <a:bodyPr wrap="none" lIns="0" tIns="0" rIns="0" bIns="0" rtlCol="0" anchor="t"/>
          <a:lstStyle/>
          <a:p>
            <a:pPr marL="0" indent="0" algn="l">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Multiple threads increment shared int without synchronization.                                             Fixed with AtomicInteger.</a:t>
            </a:r>
            <a:endParaRPr lang="en-US" sz="1400" dirty="0"/>
          </a:p>
        </p:txBody>
      </p:sp>
      <p:pic>
        <p:nvPicPr>
          <p:cNvPr id="6" name="Image 1" descr="preencoded.png"/>
          <p:cNvPicPr>
            <a:picLocks noChangeAspect="1"/>
          </p:cNvPicPr>
          <p:nvPr/>
        </p:nvPicPr>
        <p:blipFill>
          <a:blip r:embed="rId2"/>
          <a:stretch>
            <a:fillRect/>
          </a:stretch>
        </p:blipFill>
        <p:spPr>
          <a:xfrm>
            <a:off x="638770" y="2532459"/>
            <a:ext cx="912614" cy="1095137"/>
          </a:xfrm>
          <a:prstGeom prst="rect">
            <a:avLst/>
          </a:prstGeom>
        </p:spPr>
      </p:pic>
      <p:sp>
        <p:nvSpPr>
          <p:cNvPr id="7" name="Text 3"/>
          <p:cNvSpPr/>
          <p:nvPr/>
        </p:nvSpPr>
        <p:spPr>
          <a:xfrm>
            <a:off x="1825109" y="2714982"/>
            <a:ext cx="2281476" cy="285155"/>
          </a:xfrm>
          <a:prstGeom prst="rect">
            <a:avLst/>
          </a:prstGeom>
          <a:noFill/>
        </p:spPr>
        <p:txBody>
          <a:bodyPr wrap="none" lIns="0" tIns="0" rIns="0" bIns="0" rtlCol="0" anchor="t"/>
          <a:lstStyle/>
          <a:p>
            <a:pPr marL="0" indent="0" algn="l">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Iterator Races</a:t>
            </a:r>
            <a:endParaRPr lang="en-US" sz="1750" dirty="0"/>
          </a:p>
        </p:txBody>
      </p:sp>
      <p:sp>
        <p:nvSpPr>
          <p:cNvPr id="8" name="Text 4"/>
          <p:cNvSpPr/>
          <p:nvPr/>
        </p:nvSpPr>
        <p:spPr>
          <a:xfrm>
            <a:off x="1825109" y="3109555"/>
            <a:ext cx="12166521" cy="291941"/>
          </a:xfrm>
          <a:prstGeom prst="rect">
            <a:avLst/>
          </a:prstGeom>
          <a:noFill/>
        </p:spPr>
        <p:txBody>
          <a:bodyPr wrap="none" lIns="0" tIns="0" rIns="0" bIns="0" rtlCol="0" anchor="t"/>
          <a:lstStyle/>
          <a:p>
            <a:pPr marL="0" indent="0" algn="l">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Concurrent ArrayList modification during iteration.                                                                       Solved with CopyOnWriteArrayList.</a:t>
            </a:r>
            <a:endParaRPr lang="en-US" sz="1400" dirty="0"/>
          </a:p>
        </p:txBody>
      </p:sp>
      <p:pic>
        <p:nvPicPr>
          <p:cNvPr id="9" name="Image 2" descr="preencoded.png"/>
          <p:cNvPicPr>
            <a:picLocks noChangeAspect="1"/>
          </p:cNvPicPr>
          <p:nvPr/>
        </p:nvPicPr>
        <p:blipFill>
          <a:blip r:embed="rId3"/>
          <a:stretch>
            <a:fillRect/>
          </a:stretch>
        </p:blipFill>
        <p:spPr>
          <a:xfrm>
            <a:off x="638770" y="3627596"/>
            <a:ext cx="912614" cy="1095137"/>
          </a:xfrm>
          <a:prstGeom prst="rect">
            <a:avLst/>
          </a:prstGeom>
        </p:spPr>
      </p:pic>
      <p:sp>
        <p:nvSpPr>
          <p:cNvPr id="10" name="Text 5"/>
          <p:cNvSpPr/>
          <p:nvPr/>
        </p:nvSpPr>
        <p:spPr>
          <a:xfrm>
            <a:off x="1825109" y="3810119"/>
            <a:ext cx="2430542" cy="285155"/>
          </a:xfrm>
          <a:prstGeom prst="rect">
            <a:avLst/>
          </a:prstGeom>
          <a:noFill/>
        </p:spPr>
        <p:txBody>
          <a:bodyPr wrap="none" lIns="0" tIns="0" rIns="0" bIns="0" rtlCol="0" anchor="t"/>
          <a:lstStyle/>
          <a:p>
            <a:pPr marL="0" indent="0" algn="l">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Guarded-By Violations</a:t>
            </a:r>
            <a:endParaRPr lang="en-US" sz="1750" dirty="0"/>
          </a:p>
        </p:txBody>
      </p:sp>
      <p:sp>
        <p:nvSpPr>
          <p:cNvPr id="11" name="Text 6"/>
          <p:cNvSpPr/>
          <p:nvPr/>
        </p:nvSpPr>
        <p:spPr>
          <a:xfrm>
            <a:off x="1825109" y="4204692"/>
            <a:ext cx="12166521" cy="291941"/>
          </a:xfrm>
          <a:prstGeom prst="rect">
            <a:avLst/>
          </a:prstGeom>
          <a:noFill/>
        </p:spPr>
        <p:txBody>
          <a:bodyPr wrap="none" lIns="0" tIns="0" rIns="0" bIns="0" rtlCol="0" anchor="t"/>
          <a:lstStyle/>
          <a:p>
            <a:pPr marL="0" indent="0" algn="l">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Accessing shared data without required lock protection.                                                            Fixed with consistent synchronization.</a:t>
            </a:r>
            <a:endParaRPr lang="en-US" sz="1400" dirty="0"/>
          </a:p>
        </p:txBody>
      </p:sp>
      <p:sp>
        <p:nvSpPr>
          <p:cNvPr id="12" name="Text 7"/>
          <p:cNvSpPr/>
          <p:nvPr/>
        </p:nvSpPr>
        <p:spPr>
          <a:xfrm>
            <a:off x="638770" y="4996458"/>
            <a:ext cx="3025854" cy="342305"/>
          </a:xfrm>
          <a:prstGeom prst="rect">
            <a:avLst/>
          </a:prstGeom>
          <a:noFill/>
        </p:spPr>
        <p:txBody>
          <a:bodyPr wrap="none" lIns="0" tIns="0" rIns="0" bIns="0" rtlCol="0" anchor="t"/>
          <a:lstStyle/>
          <a:p>
            <a:pPr marL="0" indent="0" algn="l">
              <a:lnSpc>
                <a:spcPts val="2650"/>
              </a:lnSpc>
              <a:buNone/>
            </a:pPr>
            <a:r>
              <a:rPr lang="en-US" sz="2150" dirty="0">
                <a:solidFill>
                  <a:srgbClr val="091C53"/>
                </a:solidFill>
                <a:latin typeface="Instrument Sans Semi Bold" pitchFamily="34" charset="0"/>
                <a:ea typeface="Instrument Sans Semi Bold" pitchFamily="34" charset="-122"/>
                <a:cs typeface="Instrument Sans Semi Bold" pitchFamily="34" charset="-120"/>
              </a:rPr>
              <a:t>Detection Performance</a:t>
            </a:r>
            <a:endParaRPr lang="en-US" sz="2150" dirty="0"/>
          </a:p>
        </p:txBody>
      </p:sp>
      <p:sp>
        <p:nvSpPr>
          <p:cNvPr id="13" name="Shape 8"/>
          <p:cNvSpPr/>
          <p:nvPr/>
        </p:nvSpPr>
        <p:spPr>
          <a:xfrm>
            <a:off x="638770" y="5612487"/>
            <a:ext cx="13352859" cy="2119313"/>
          </a:xfrm>
          <a:prstGeom prst="roundRect">
            <a:avLst>
              <a:gd name="adj" fmla="val 7751"/>
            </a:avLst>
          </a:prstGeom>
          <a:noFill/>
          <a:ln w="7620">
            <a:solidFill>
              <a:srgbClr val="000000">
                <a:alpha val="8000"/>
              </a:srgbClr>
            </a:solidFill>
            <a:prstDash val="solid"/>
          </a:ln>
        </p:spPr>
      </p:sp>
      <p:sp>
        <p:nvSpPr>
          <p:cNvPr id="14" name="Shape 9"/>
          <p:cNvSpPr/>
          <p:nvPr/>
        </p:nvSpPr>
        <p:spPr>
          <a:xfrm>
            <a:off x="646390" y="5620107"/>
            <a:ext cx="13337619" cy="526018"/>
          </a:xfrm>
          <a:prstGeom prst="rect">
            <a:avLst/>
          </a:prstGeom>
          <a:solidFill>
            <a:srgbClr val="FFFFFF">
              <a:alpha val="4000"/>
            </a:srgbClr>
          </a:solidFill>
        </p:spPr>
      </p:sp>
      <p:sp>
        <p:nvSpPr>
          <p:cNvPr id="15" name="Text 10"/>
          <p:cNvSpPr/>
          <p:nvPr/>
        </p:nvSpPr>
        <p:spPr>
          <a:xfrm>
            <a:off x="829151" y="5737146"/>
            <a:ext cx="2965490" cy="291941"/>
          </a:xfrm>
          <a:prstGeom prst="rect">
            <a:avLst/>
          </a:prstGeom>
          <a:noFill/>
        </p:spPr>
        <p:txBody>
          <a:bodyPr wrap="none" lIns="0" tIns="0" rIns="0" bIns="0" rtlCol="0" anchor="t"/>
          <a:lstStyle/>
          <a:p>
            <a:pPr marL="0" indent="0" algn="ctr">
              <a:lnSpc>
                <a:spcPts val="2250"/>
              </a:lnSpc>
              <a:buNone/>
            </a:pPr>
            <a:r>
              <a:rPr lang="en-US" sz="1400" b="1" dirty="0">
                <a:solidFill>
                  <a:srgbClr val="1E3063"/>
                </a:solidFill>
                <a:latin typeface="Instrument Sans Medium" pitchFamily="34" charset="0"/>
                <a:ea typeface="Instrument Sans Medium" pitchFamily="34" charset="-122"/>
                <a:cs typeface="Instrument Sans Medium" pitchFamily="34" charset="-120"/>
              </a:rPr>
              <a:t>Pattern / Case</a:t>
            </a:r>
            <a:endParaRPr lang="en-US" sz="1400" dirty="0"/>
          </a:p>
        </p:txBody>
      </p:sp>
      <p:sp>
        <p:nvSpPr>
          <p:cNvPr id="16" name="Text 11"/>
          <p:cNvSpPr/>
          <p:nvPr/>
        </p:nvSpPr>
        <p:spPr>
          <a:xfrm>
            <a:off x="4167307" y="5737146"/>
            <a:ext cx="2961680" cy="291941"/>
          </a:xfrm>
          <a:prstGeom prst="rect">
            <a:avLst/>
          </a:prstGeom>
          <a:noFill/>
        </p:spPr>
        <p:txBody>
          <a:bodyPr wrap="none" lIns="0" tIns="0" rIns="0" bIns="0" rtlCol="0" anchor="t"/>
          <a:lstStyle/>
          <a:p>
            <a:pPr marL="0" indent="0" algn="ctr">
              <a:lnSpc>
                <a:spcPts val="2250"/>
              </a:lnSpc>
              <a:buNone/>
            </a:pPr>
            <a:r>
              <a:rPr lang="en-US" sz="1400" b="1" dirty="0">
                <a:solidFill>
                  <a:srgbClr val="1E3063"/>
                </a:solidFill>
                <a:latin typeface="Instrument Sans Medium" pitchFamily="34" charset="0"/>
                <a:ea typeface="Instrument Sans Medium" pitchFamily="34" charset="-122"/>
                <a:cs typeface="Instrument Sans Medium" pitchFamily="34" charset="-120"/>
              </a:rPr>
              <a:t>SpotBugs</a:t>
            </a:r>
            <a:endParaRPr lang="en-US" sz="1400" dirty="0"/>
          </a:p>
        </p:txBody>
      </p:sp>
      <p:sp>
        <p:nvSpPr>
          <p:cNvPr id="17" name="Text 12"/>
          <p:cNvSpPr/>
          <p:nvPr/>
        </p:nvSpPr>
        <p:spPr>
          <a:xfrm>
            <a:off x="7501652" y="5737146"/>
            <a:ext cx="2961680" cy="291941"/>
          </a:xfrm>
          <a:prstGeom prst="rect">
            <a:avLst/>
          </a:prstGeom>
          <a:noFill/>
        </p:spPr>
        <p:txBody>
          <a:bodyPr wrap="none" lIns="0" tIns="0" rIns="0" bIns="0" rtlCol="0" anchor="t"/>
          <a:lstStyle/>
          <a:p>
            <a:pPr marL="0" indent="0" algn="ctr">
              <a:lnSpc>
                <a:spcPts val="2250"/>
              </a:lnSpc>
              <a:buNone/>
            </a:pPr>
            <a:r>
              <a:rPr lang="en-US" sz="1400" b="1" dirty="0">
                <a:solidFill>
                  <a:srgbClr val="1E3063"/>
                </a:solidFill>
                <a:latin typeface="Instrument Sans Medium" pitchFamily="34" charset="0"/>
                <a:ea typeface="Instrument Sans Medium" pitchFamily="34" charset="-122"/>
                <a:cs typeface="Instrument Sans Medium" pitchFamily="34" charset="-120"/>
              </a:rPr>
              <a:t>SonarQube</a:t>
            </a:r>
            <a:endParaRPr lang="en-US" sz="1400" dirty="0"/>
          </a:p>
        </p:txBody>
      </p:sp>
      <p:sp>
        <p:nvSpPr>
          <p:cNvPr id="18" name="Text 13"/>
          <p:cNvSpPr/>
          <p:nvPr/>
        </p:nvSpPr>
        <p:spPr>
          <a:xfrm>
            <a:off x="10835997" y="5737146"/>
            <a:ext cx="2965490" cy="291941"/>
          </a:xfrm>
          <a:prstGeom prst="rect">
            <a:avLst/>
          </a:prstGeom>
          <a:noFill/>
        </p:spPr>
        <p:txBody>
          <a:bodyPr wrap="none" lIns="0" tIns="0" rIns="0" bIns="0" rtlCol="0" anchor="t"/>
          <a:lstStyle/>
          <a:p>
            <a:pPr marL="0" indent="0" algn="ctr">
              <a:lnSpc>
                <a:spcPts val="2250"/>
              </a:lnSpc>
              <a:buNone/>
            </a:pPr>
            <a:r>
              <a:rPr lang="en-US" sz="1400" b="1" dirty="0">
                <a:solidFill>
                  <a:srgbClr val="1E3063"/>
                </a:solidFill>
                <a:latin typeface="Instrument Sans Medium" pitchFamily="34" charset="0"/>
                <a:ea typeface="Instrument Sans Medium" pitchFamily="34" charset="-122"/>
                <a:cs typeface="Instrument Sans Medium" pitchFamily="34" charset="-120"/>
              </a:rPr>
              <a:t>Infer</a:t>
            </a:r>
            <a:endParaRPr lang="en-US" sz="1400" dirty="0"/>
          </a:p>
        </p:txBody>
      </p:sp>
      <p:sp>
        <p:nvSpPr>
          <p:cNvPr id="19" name="Shape 14"/>
          <p:cNvSpPr/>
          <p:nvPr/>
        </p:nvSpPr>
        <p:spPr>
          <a:xfrm>
            <a:off x="646390" y="6146125"/>
            <a:ext cx="13337619" cy="526018"/>
          </a:xfrm>
          <a:prstGeom prst="rect">
            <a:avLst/>
          </a:prstGeom>
          <a:solidFill>
            <a:srgbClr val="000000">
              <a:alpha val="4000"/>
            </a:srgbClr>
          </a:solidFill>
        </p:spPr>
      </p:sp>
      <p:sp>
        <p:nvSpPr>
          <p:cNvPr id="20" name="Text 15"/>
          <p:cNvSpPr/>
          <p:nvPr/>
        </p:nvSpPr>
        <p:spPr>
          <a:xfrm>
            <a:off x="829151" y="6263164"/>
            <a:ext cx="296549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Non-Atomic Operation</a:t>
            </a:r>
            <a:endParaRPr lang="en-US" sz="1400" dirty="0"/>
          </a:p>
        </p:txBody>
      </p:sp>
      <p:sp>
        <p:nvSpPr>
          <p:cNvPr id="21" name="Text 16"/>
          <p:cNvSpPr/>
          <p:nvPr/>
        </p:nvSpPr>
        <p:spPr>
          <a:xfrm>
            <a:off x="4167307" y="6263164"/>
            <a:ext cx="296168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22" name="Text 17"/>
          <p:cNvSpPr/>
          <p:nvPr/>
        </p:nvSpPr>
        <p:spPr>
          <a:xfrm>
            <a:off x="7501652" y="6263164"/>
            <a:ext cx="296168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23" name="Text 18"/>
          <p:cNvSpPr/>
          <p:nvPr/>
        </p:nvSpPr>
        <p:spPr>
          <a:xfrm>
            <a:off x="10835997" y="6263164"/>
            <a:ext cx="296549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24" name="Shape 19"/>
          <p:cNvSpPr/>
          <p:nvPr/>
        </p:nvSpPr>
        <p:spPr>
          <a:xfrm>
            <a:off x="646390" y="6672143"/>
            <a:ext cx="13337619" cy="526018"/>
          </a:xfrm>
          <a:prstGeom prst="rect">
            <a:avLst/>
          </a:prstGeom>
          <a:solidFill>
            <a:srgbClr val="FFFFFF">
              <a:alpha val="4000"/>
            </a:srgbClr>
          </a:solidFill>
        </p:spPr>
      </p:sp>
      <p:sp>
        <p:nvSpPr>
          <p:cNvPr id="25" name="Text 20"/>
          <p:cNvSpPr/>
          <p:nvPr/>
        </p:nvSpPr>
        <p:spPr>
          <a:xfrm>
            <a:off x="829151" y="6789182"/>
            <a:ext cx="296549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Iterator Race</a:t>
            </a:r>
            <a:endParaRPr lang="en-US" sz="1400" dirty="0"/>
          </a:p>
        </p:txBody>
      </p:sp>
      <p:sp>
        <p:nvSpPr>
          <p:cNvPr id="26" name="Text 21"/>
          <p:cNvSpPr/>
          <p:nvPr/>
        </p:nvSpPr>
        <p:spPr>
          <a:xfrm>
            <a:off x="4167307" y="6789182"/>
            <a:ext cx="296168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27" name="Text 22"/>
          <p:cNvSpPr/>
          <p:nvPr/>
        </p:nvSpPr>
        <p:spPr>
          <a:xfrm>
            <a:off x="7501652" y="6789182"/>
            <a:ext cx="296168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28" name="Text 23"/>
          <p:cNvSpPr/>
          <p:nvPr/>
        </p:nvSpPr>
        <p:spPr>
          <a:xfrm>
            <a:off x="10835997" y="6789182"/>
            <a:ext cx="296549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29" name="Shape 24"/>
          <p:cNvSpPr/>
          <p:nvPr/>
        </p:nvSpPr>
        <p:spPr>
          <a:xfrm>
            <a:off x="646390" y="7198162"/>
            <a:ext cx="13337619" cy="526018"/>
          </a:xfrm>
          <a:prstGeom prst="rect">
            <a:avLst/>
          </a:prstGeom>
          <a:solidFill>
            <a:srgbClr val="000000">
              <a:alpha val="4000"/>
            </a:srgbClr>
          </a:solidFill>
        </p:spPr>
      </p:sp>
      <p:sp>
        <p:nvSpPr>
          <p:cNvPr id="30" name="Text 25"/>
          <p:cNvSpPr/>
          <p:nvPr/>
        </p:nvSpPr>
        <p:spPr>
          <a:xfrm>
            <a:off x="829151" y="7315200"/>
            <a:ext cx="296549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Guarded-By Violation</a:t>
            </a:r>
            <a:endParaRPr lang="en-US" sz="1400" dirty="0"/>
          </a:p>
        </p:txBody>
      </p:sp>
      <p:sp>
        <p:nvSpPr>
          <p:cNvPr id="31" name="Text 26"/>
          <p:cNvSpPr/>
          <p:nvPr/>
        </p:nvSpPr>
        <p:spPr>
          <a:xfrm>
            <a:off x="4167307" y="7315200"/>
            <a:ext cx="296168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32" name="Text 27"/>
          <p:cNvSpPr/>
          <p:nvPr/>
        </p:nvSpPr>
        <p:spPr>
          <a:xfrm>
            <a:off x="7501652" y="7315200"/>
            <a:ext cx="296168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
        <p:nvSpPr>
          <p:cNvPr id="33" name="Text 28"/>
          <p:cNvSpPr/>
          <p:nvPr/>
        </p:nvSpPr>
        <p:spPr>
          <a:xfrm>
            <a:off x="10835997" y="7315200"/>
            <a:ext cx="2965490" cy="291941"/>
          </a:xfrm>
          <a:prstGeom prst="rect">
            <a:avLst/>
          </a:prstGeom>
          <a:noFill/>
        </p:spPr>
        <p:txBody>
          <a:bodyPr wrap="none" lIns="0" tIns="0" rIns="0" bIns="0" rtlCol="0" anchor="t"/>
          <a:lstStyle/>
          <a:p>
            <a:pPr marL="0" indent="0" algn="ctr">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t>
            </a:r>
            <a:endParaRPr lang="en-US" sz="14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9373" y="550664"/>
            <a:ext cx="9130784" cy="624483"/>
          </a:xfrm>
          <a:prstGeom prst="rect">
            <a:avLst/>
          </a:prstGeom>
          <a:noFill/>
        </p:spPr>
        <p:txBody>
          <a:bodyPr wrap="none" lIns="0" tIns="0" rIns="0" bIns="0" rtlCol="0" anchor="t"/>
          <a:lstStyle/>
          <a:p>
            <a:pPr marL="0" indent="0" algn="l">
              <a:lnSpc>
                <a:spcPts val="4900"/>
              </a:lnSpc>
              <a:buNone/>
            </a:pPr>
            <a:r>
              <a:rPr lang="en-US" sz="3900" dirty="0">
                <a:solidFill>
                  <a:srgbClr val="091C53"/>
                </a:solidFill>
                <a:latin typeface="Instrument Sans Semi Bold" pitchFamily="34" charset="0"/>
                <a:ea typeface="Instrument Sans Semi Bold" pitchFamily="34" charset="-122"/>
                <a:cs typeface="Instrument Sans Semi Bold" pitchFamily="34" charset="-120"/>
              </a:rPr>
              <a:t>Large Project Evaluation: Alibaba Druid</a:t>
            </a:r>
            <a:endParaRPr lang="en-US" sz="3900" dirty="0"/>
          </a:p>
        </p:txBody>
      </p:sp>
      <p:sp>
        <p:nvSpPr>
          <p:cNvPr id="3" name="Shape 1"/>
          <p:cNvSpPr/>
          <p:nvPr/>
        </p:nvSpPr>
        <p:spPr>
          <a:xfrm>
            <a:off x="699373" y="3445193"/>
            <a:ext cx="13231654" cy="22860"/>
          </a:xfrm>
          <a:prstGeom prst="roundRect">
            <a:avLst>
              <a:gd name="adj" fmla="val 786736"/>
            </a:avLst>
          </a:prstGeom>
          <a:solidFill>
            <a:srgbClr val="B4CCE3"/>
          </a:solidFill>
        </p:spPr>
      </p:sp>
      <p:sp>
        <p:nvSpPr>
          <p:cNvPr id="4" name="Shape 2"/>
          <p:cNvSpPr/>
          <p:nvPr/>
        </p:nvSpPr>
        <p:spPr>
          <a:xfrm>
            <a:off x="3933349" y="2845713"/>
            <a:ext cx="22860" cy="599480"/>
          </a:xfrm>
          <a:prstGeom prst="roundRect">
            <a:avLst>
              <a:gd name="adj" fmla="val 786736"/>
            </a:avLst>
          </a:prstGeom>
          <a:solidFill>
            <a:srgbClr val="B4CCE3"/>
          </a:solidFill>
        </p:spPr>
      </p:sp>
      <p:sp>
        <p:nvSpPr>
          <p:cNvPr id="5" name="Shape 3"/>
          <p:cNvSpPr/>
          <p:nvPr/>
        </p:nvSpPr>
        <p:spPr>
          <a:xfrm>
            <a:off x="3719989" y="3220403"/>
            <a:ext cx="449580" cy="449580"/>
          </a:xfrm>
          <a:prstGeom prst="roundRect">
            <a:avLst>
              <a:gd name="adj" fmla="val 40004"/>
            </a:avLst>
          </a:prstGeom>
          <a:solidFill>
            <a:srgbClr val="CEE6FD"/>
          </a:solidFill>
        </p:spPr>
      </p:sp>
      <p:sp>
        <p:nvSpPr>
          <p:cNvPr id="6" name="Text 4"/>
          <p:cNvSpPr/>
          <p:nvPr/>
        </p:nvSpPr>
        <p:spPr>
          <a:xfrm>
            <a:off x="3794939" y="3257907"/>
            <a:ext cx="299680" cy="374571"/>
          </a:xfrm>
          <a:prstGeom prst="rect">
            <a:avLst/>
          </a:prstGeom>
          <a:noFill/>
        </p:spPr>
        <p:txBody>
          <a:bodyPr wrap="none" lIns="0" tIns="0" rIns="0" bIns="0" rtlCol="0" anchor="t"/>
          <a:lstStyle/>
          <a:p>
            <a:pPr marL="0" indent="0" algn="ctr">
              <a:lnSpc>
                <a:spcPts val="2350"/>
              </a:lnSpc>
              <a:buNone/>
            </a:pPr>
            <a:r>
              <a:rPr lang="en-US" sz="2350" dirty="0">
                <a:solidFill>
                  <a:srgbClr val="1E3063"/>
                </a:solidFill>
                <a:latin typeface="Instrument Sans Semi Bold" pitchFamily="34" charset="0"/>
                <a:ea typeface="Instrument Sans Semi Bold" pitchFamily="34" charset="-122"/>
                <a:cs typeface="Instrument Sans Semi Bold" pitchFamily="34" charset="-120"/>
              </a:rPr>
              <a:t>1</a:t>
            </a:r>
            <a:endParaRPr lang="en-US" sz="2350" dirty="0"/>
          </a:p>
        </p:txBody>
      </p:sp>
      <p:sp>
        <p:nvSpPr>
          <p:cNvPr id="7" name="Text 5"/>
          <p:cNvSpPr/>
          <p:nvPr/>
        </p:nvSpPr>
        <p:spPr>
          <a:xfrm>
            <a:off x="2695932" y="1574721"/>
            <a:ext cx="2497812" cy="312182"/>
          </a:xfrm>
          <a:prstGeom prst="rect">
            <a:avLst/>
          </a:prstGeom>
          <a:noFill/>
        </p:spPr>
        <p:txBody>
          <a:bodyPr wrap="none" lIns="0" tIns="0" rIns="0" bIns="0" rtlCol="0" anchor="t"/>
          <a:lstStyle/>
          <a:p>
            <a:pPr marL="0" indent="0" algn="ctr">
              <a:lnSpc>
                <a:spcPts val="24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Infer</a:t>
            </a:r>
            <a:endParaRPr lang="en-US" sz="1950" dirty="0"/>
          </a:p>
        </p:txBody>
      </p:sp>
      <p:sp>
        <p:nvSpPr>
          <p:cNvPr id="8" name="Text 6"/>
          <p:cNvSpPr/>
          <p:nvPr/>
        </p:nvSpPr>
        <p:spPr>
          <a:xfrm>
            <a:off x="899160" y="2006798"/>
            <a:ext cx="6091357" cy="639127"/>
          </a:xfrm>
          <a:prstGeom prst="rect">
            <a:avLst/>
          </a:prstGeom>
          <a:noFill/>
        </p:spPr>
        <p:txBody>
          <a:bodyPr wrap="squar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Succeeded after configuration. Found Null pointer  and Thread Safety Violations.</a:t>
            </a:r>
            <a:endParaRPr lang="en-US" sz="1550" dirty="0"/>
          </a:p>
        </p:txBody>
      </p:sp>
      <p:sp>
        <p:nvSpPr>
          <p:cNvPr id="9" name="Shape 7"/>
          <p:cNvSpPr/>
          <p:nvPr/>
        </p:nvSpPr>
        <p:spPr>
          <a:xfrm>
            <a:off x="7303651" y="3445193"/>
            <a:ext cx="22860" cy="599480"/>
          </a:xfrm>
          <a:prstGeom prst="roundRect">
            <a:avLst>
              <a:gd name="adj" fmla="val 786736"/>
            </a:avLst>
          </a:prstGeom>
          <a:solidFill>
            <a:srgbClr val="B4CCE3"/>
          </a:solidFill>
        </p:spPr>
      </p:sp>
      <p:sp>
        <p:nvSpPr>
          <p:cNvPr id="10" name="Shape 8"/>
          <p:cNvSpPr/>
          <p:nvPr/>
        </p:nvSpPr>
        <p:spPr>
          <a:xfrm>
            <a:off x="7090291" y="3220403"/>
            <a:ext cx="449580" cy="449580"/>
          </a:xfrm>
          <a:prstGeom prst="roundRect">
            <a:avLst>
              <a:gd name="adj" fmla="val 40004"/>
            </a:avLst>
          </a:prstGeom>
          <a:solidFill>
            <a:srgbClr val="CEE6FD"/>
          </a:solidFill>
        </p:spPr>
      </p:sp>
      <p:sp>
        <p:nvSpPr>
          <p:cNvPr id="11" name="Text 9"/>
          <p:cNvSpPr/>
          <p:nvPr/>
        </p:nvSpPr>
        <p:spPr>
          <a:xfrm>
            <a:off x="7165241" y="3257907"/>
            <a:ext cx="299680" cy="374571"/>
          </a:xfrm>
          <a:prstGeom prst="rect">
            <a:avLst/>
          </a:prstGeom>
          <a:noFill/>
        </p:spPr>
        <p:txBody>
          <a:bodyPr wrap="none" lIns="0" tIns="0" rIns="0" bIns="0" rtlCol="0" anchor="t"/>
          <a:lstStyle/>
          <a:p>
            <a:pPr marL="0" indent="0" algn="ctr">
              <a:lnSpc>
                <a:spcPts val="2350"/>
              </a:lnSpc>
              <a:buNone/>
            </a:pPr>
            <a:r>
              <a:rPr lang="en-US" sz="2350" dirty="0">
                <a:solidFill>
                  <a:srgbClr val="1E3063"/>
                </a:solidFill>
                <a:latin typeface="Instrument Sans Semi Bold" pitchFamily="34" charset="0"/>
                <a:ea typeface="Instrument Sans Semi Bold" pitchFamily="34" charset="-122"/>
                <a:cs typeface="Instrument Sans Semi Bold" pitchFamily="34" charset="-120"/>
              </a:rPr>
              <a:t>2</a:t>
            </a:r>
            <a:endParaRPr lang="en-US" sz="2350" dirty="0"/>
          </a:p>
        </p:txBody>
      </p:sp>
      <p:sp>
        <p:nvSpPr>
          <p:cNvPr id="12" name="Text 10"/>
          <p:cNvSpPr/>
          <p:nvPr/>
        </p:nvSpPr>
        <p:spPr>
          <a:xfrm>
            <a:off x="6066234" y="4244459"/>
            <a:ext cx="2497812" cy="312182"/>
          </a:xfrm>
          <a:prstGeom prst="rect">
            <a:avLst/>
          </a:prstGeom>
          <a:noFill/>
        </p:spPr>
        <p:txBody>
          <a:bodyPr wrap="none" lIns="0" tIns="0" rIns="0" bIns="0" rtlCol="0" anchor="t"/>
          <a:lstStyle/>
          <a:p>
            <a:pPr marL="0" indent="0" algn="ctr">
              <a:lnSpc>
                <a:spcPts val="24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SpotBugs</a:t>
            </a:r>
            <a:endParaRPr lang="en-US" sz="1950" dirty="0"/>
          </a:p>
        </p:txBody>
      </p:sp>
      <p:sp>
        <p:nvSpPr>
          <p:cNvPr id="13" name="Text 11"/>
          <p:cNvSpPr/>
          <p:nvPr/>
        </p:nvSpPr>
        <p:spPr>
          <a:xfrm>
            <a:off x="4269462" y="4676537"/>
            <a:ext cx="6091357" cy="319564"/>
          </a:xfrm>
          <a:prstGeom prst="rect">
            <a:avLst/>
          </a:prstGeom>
          <a:noFill/>
        </p:spPr>
        <p:txBody>
          <a:bodyPr wrap="non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Consistently failed with OutOfMemoryError on large codebase.</a:t>
            </a:r>
            <a:endParaRPr lang="en-US" sz="1550" dirty="0"/>
          </a:p>
        </p:txBody>
      </p:sp>
      <p:sp>
        <p:nvSpPr>
          <p:cNvPr id="14" name="Shape 12"/>
          <p:cNvSpPr/>
          <p:nvPr/>
        </p:nvSpPr>
        <p:spPr>
          <a:xfrm>
            <a:off x="10674072" y="2845713"/>
            <a:ext cx="22860" cy="599480"/>
          </a:xfrm>
          <a:prstGeom prst="roundRect">
            <a:avLst>
              <a:gd name="adj" fmla="val 786736"/>
            </a:avLst>
          </a:prstGeom>
          <a:solidFill>
            <a:srgbClr val="B4CCE3"/>
          </a:solidFill>
        </p:spPr>
      </p:sp>
      <p:sp>
        <p:nvSpPr>
          <p:cNvPr id="15" name="Shape 13"/>
          <p:cNvSpPr/>
          <p:nvPr/>
        </p:nvSpPr>
        <p:spPr>
          <a:xfrm>
            <a:off x="10460712" y="3220403"/>
            <a:ext cx="449580" cy="449580"/>
          </a:xfrm>
          <a:prstGeom prst="roundRect">
            <a:avLst>
              <a:gd name="adj" fmla="val 40004"/>
            </a:avLst>
          </a:prstGeom>
          <a:solidFill>
            <a:srgbClr val="CEE6FD"/>
          </a:solidFill>
        </p:spPr>
      </p:sp>
      <p:sp>
        <p:nvSpPr>
          <p:cNvPr id="16" name="Text 14"/>
          <p:cNvSpPr/>
          <p:nvPr/>
        </p:nvSpPr>
        <p:spPr>
          <a:xfrm>
            <a:off x="10535662" y="3257907"/>
            <a:ext cx="299680" cy="374571"/>
          </a:xfrm>
          <a:prstGeom prst="rect">
            <a:avLst/>
          </a:prstGeom>
          <a:noFill/>
        </p:spPr>
        <p:txBody>
          <a:bodyPr wrap="none" lIns="0" tIns="0" rIns="0" bIns="0" rtlCol="0" anchor="t"/>
          <a:lstStyle/>
          <a:p>
            <a:pPr marL="0" indent="0" algn="ctr">
              <a:lnSpc>
                <a:spcPts val="2350"/>
              </a:lnSpc>
              <a:buNone/>
            </a:pPr>
            <a:r>
              <a:rPr lang="en-US" sz="2350" dirty="0">
                <a:solidFill>
                  <a:srgbClr val="1E3063"/>
                </a:solidFill>
                <a:latin typeface="Instrument Sans Semi Bold" pitchFamily="34" charset="0"/>
                <a:ea typeface="Instrument Sans Semi Bold" pitchFamily="34" charset="-122"/>
                <a:cs typeface="Instrument Sans Semi Bold" pitchFamily="34" charset="-120"/>
              </a:rPr>
              <a:t>3</a:t>
            </a:r>
            <a:endParaRPr lang="en-US" sz="2350" dirty="0"/>
          </a:p>
        </p:txBody>
      </p:sp>
      <p:sp>
        <p:nvSpPr>
          <p:cNvPr id="17" name="Text 15"/>
          <p:cNvSpPr/>
          <p:nvPr/>
        </p:nvSpPr>
        <p:spPr>
          <a:xfrm>
            <a:off x="9436537" y="1894284"/>
            <a:ext cx="2497812" cy="312182"/>
          </a:xfrm>
          <a:prstGeom prst="rect">
            <a:avLst/>
          </a:prstGeom>
          <a:noFill/>
        </p:spPr>
        <p:txBody>
          <a:bodyPr wrap="none" lIns="0" tIns="0" rIns="0" bIns="0" rtlCol="0" anchor="t"/>
          <a:lstStyle/>
          <a:p>
            <a:pPr marL="0" indent="0" algn="ctr">
              <a:lnSpc>
                <a:spcPts val="24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SonarQube</a:t>
            </a:r>
            <a:endParaRPr lang="en-US" sz="1950" dirty="0"/>
          </a:p>
        </p:txBody>
      </p:sp>
      <p:sp>
        <p:nvSpPr>
          <p:cNvPr id="18" name="Text 16"/>
          <p:cNvSpPr/>
          <p:nvPr/>
        </p:nvSpPr>
        <p:spPr>
          <a:xfrm>
            <a:off x="7639764" y="2326362"/>
            <a:ext cx="6091476" cy="319564"/>
          </a:xfrm>
          <a:prstGeom prst="rect">
            <a:avLst/>
          </a:prstGeom>
          <a:noFill/>
        </p:spPr>
        <p:txBody>
          <a:bodyPr wrap="non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Failed with StackOverflowError during analysis.</a:t>
            </a:r>
            <a:endParaRPr lang="en-US" sz="1550" dirty="0"/>
          </a:p>
        </p:txBody>
      </p:sp>
      <p:sp>
        <p:nvSpPr>
          <p:cNvPr id="19" name="Text 17"/>
          <p:cNvSpPr/>
          <p:nvPr/>
        </p:nvSpPr>
        <p:spPr>
          <a:xfrm>
            <a:off x="699373" y="5220891"/>
            <a:ext cx="13231654" cy="319564"/>
          </a:xfrm>
          <a:prstGeom prst="rect">
            <a:avLst/>
          </a:prstGeom>
          <a:noFill/>
        </p:spPr>
        <p:txBody>
          <a:bodyPr wrap="non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Target: Over 1,600 Java files in core module.</a:t>
            </a:r>
            <a:endParaRPr lang="en-US" sz="1550" dirty="0"/>
          </a:p>
        </p:txBody>
      </p:sp>
      <p:sp>
        <p:nvSpPr>
          <p:cNvPr id="20" name="Text 18"/>
          <p:cNvSpPr/>
          <p:nvPr/>
        </p:nvSpPr>
        <p:spPr>
          <a:xfrm>
            <a:off x="699373" y="5840135"/>
            <a:ext cx="3314224" cy="374690"/>
          </a:xfrm>
          <a:prstGeom prst="rect">
            <a:avLst/>
          </a:prstGeom>
          <a:noFill/>
        </p:spPr>
        <p:txBody>
          <a:bodyPr wrap="none" lIns="0" tIns="0" rIns="0" bIns="0" rtlCol="0" anchor="t"/>
          <a:lstStyle/>
          <a:p>
            <a:pPr marL="0" indent="0" algn="l">
              <a:lnSpc>
                <a:spcPts val="2950"/>
              </a:lnSpc>
              <a:buNone/>
            </a:pPr>
            <a:r>
              <a:rPr lang="en-US" sz="2350" dirty="0">
                <a:solidFill>
                  <a:srgbClr val="091C53"/>
                </a:solidFill>
                <a:latin typeface="Instrument Sans Semi Bold" pitchFamily="34" charset="0"/>
                <a:ea typeface="Instrument Sans Semi Bold" pitchFamily="34" charset="-122"/>
                <a:cs typeface="Instrument Sans Semi Bold" pitchFamily="34" charset="-120"/>
              </a:rPr>
              <a:t>Detection Performance</a:t>
            </a:r>
            <a:endParaRPr lang="en-US" sz="2350" dirty="0"/>
          </a:p>
        </p:txBody>
      </p:sp>
      <p:sp>
        <p:nvSpPr>
          <p:cNvPr id="21" name="Shape 19"/>
          <p:cNvSpPr/>
          <p:nvPr/>
        </p:nvSpPr>
        <p:spPr>
          <a:xfrm>
            <a:off x="699373" y="6514505"/>
            <a:ext cx="13231654" cy="1164431"/>
          </a:xfrm>
          <a:prstGeom prst="roundRect">
            <a:avLst>
              <a:gd name="adj" fmla="val 15445"/>
            </a:avLst>
          </a:prstGeom>
          <a:noFill/>
          <a:ln w="7620">
            <a:solidFill>
              <a:srgbClr val="000000">
                <a:alpha val="8000"/>
              </a:srgbClr>
            </a:solidFill>
            <a:prstDash val="solid"/>
          </a:ln>
        </p:spPr>
      </p:sp>
      <p:sp>
        <p:nvSpPr>
          <p:cNvPr id="22" name="Shape 20"/>
          <p:cNvSpPr/>
          <p:nvPr/>
        </p:nvSpPr>
        <p:spPr>
          <a:xfrm>
            <a:off x="706993" y="6522125"/>
            <a:ext cx="13216414" cy="574596"/>
          </a:xfrm>
          <a:prstGeom prst="rect">
            <a:avLst/>
          </a:prstGeom>
          <a:solidFill>
            <a:srgbClr val="FFFFFF">
              <a:alpha val="4000"/>
            </a:srgbClr>
          </a:solidFill>
        </p:spPr>
      </p:sp>
      <p:sp>
        <p:nvSpPr>
          <p:cNvPr id="23" name="Text 21"/>
          <p:cNvSpPr/>
          <p:nvPr/>
        </p:nvSpPr>
        <p:spPr>
          <a:xfrm>
            <a:off x="906780" y="6649641"/>
            <a:ext cx="2900720" cy="319564"/>
          </a:xfrm>
          <a:prstGeom prst="rect">
            <a:avLst/>
          </a:prstGeom>
          <a:noFill/>
        </p:spPr>
        <p:txBody>
          <a:bodyPr wrap="none" lIns="0" tIns="0" rIns="0" bIns="0" rtlCol="0" anchor="t"/>
          <a:lstStyle/>
          <a:p>
            <a:pPr marL="0" indent="0" algn="ctr">
              <a:lnSpc>
                <a:spcPts val="250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Pattern / Case</a:t>
            </a:r>
            <a:endParaRPr lang="en-US" sz="1550" dirty="0"/>
          </a:p>
        </p:txBody>
      </p:sp>
      <p:sp>
        <p:nvSpPr>
          <p:cNvPr id="24" name="Text 22"/>
          <p:cNvSpPr/>
          <p:nvPr/>
        </p:nvSpPr>
        <p:spPr>
          <a:xfrm>
            <a:off x="4214693" y="6649641"/>
            <a:ext cx="2896910" cy="319564"/>
          </a:xfrm>
          <a:prstGeom prst="rect">
            <a:avLst/>
          </a:prstGeom>
          <a:noFill/>
        </p:spPr>
        <p:txBody>
          <a:bodyPr wrap="none" lIns="0" tIns="0" rIns="0" bIns="0" rtlCol="0" anchor="t"/>
          <a:lstStyle/>
          <a:p>
            <a:pPr marL="0" indent="0" algn="ctr">
              <a:lnSpc>
                <a:spcPts val="250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SpotBugs</a:t>
            </a:r>
            <a:endParaRPr lang="en-US" sz="1550" dirty="0"/>
          </a:p>
        </p:txBody>
      </p:sp>
      <p:sp>
        <p:nvSpPr>
          <p:cNvPr id="25" name="Text 23"/>
          <p:cNvSpPr/>
          <p:nvPr/>
        </p:nvSpPr>
        <p:spPr>
          <a:xfrm>
            <a:off x="7518797" y="6649641"/>
            <a:ext cx="2896910" cy="319564"/>
          </a:xfrm>
          <a:prstGeom prst="rect">
            <a:avLst/>
          </a:prstGeom>
          <a:noFill/>
        </p:spPr>
        <p:txBody>
          <a:bodyPr wrap="none" lIns="0" tIns="0" rIns="0" bIns="0" rtlCol="0" anchor="t"/>
          <a:lstStyle/>
          <a:p>
            <a:pPr marL="0" indent="0" algn="ctr">
              <a:lnSpc>
                <a:spcPts val="250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SonarQube</a:t>
            </a:r>
            <a:endParaRPr lang="en-US" sz="1550" dirty="0"/>
          </a:p>
        </p:txBody>
      </p:sp>
      <p:sp>
        <p:nvSpPr>
          <p:cNvPr id="26" name="Text 24"/>
          <p:cNvSpPr/>
          <p:nvPr/>
        </p:nvSpPr>
        <p:spPr>
          <a:xfrm>
            <a:off x="10822900" y="6649641"/>
            <a:ext cx="2900720" cy="319564"/>
          </a:xfrm>
          <a:prstGeom prst="rect">
            <a:avLst/>
          </a:prstGeom>
          <a:noFill/>
        </p:spPr>
        <p:txBody>
          <a:bodyPr wrap="none" lIns="0" tIns="0" rIns="0" bIns="0" rtlCol="0" anchor="t"/>
          <a:lstStyle/>
          <a:p>
            <a:pPr marL="0" indent="0" algn="ctr">
              <a:lnSpc>
                <a:spcPts val="250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Infer</a:t>
            </a:r>
            <a:endParaRPr lang="en-US" sz="1550" dirty="0"/>
          </a:p>
        </p:txBody>
      </p:sp>
      <p:sp>
        <p:nvSpPr>
          <p:cNvPr id="27" name="Shape 25"/>
          <p:cNvSpPr/>
          <p:nvPr/>
        </p:nvSpPr>
        <p:spPr>
          <a:xfrm>
            <a:off x="706993" y="7096720"/>
            <a:ext cx="13216414" cy="574596"/>
          </a:xfrm>
          <a:prstGeom prst="rect">
            <a:avLst/>
          </a:prstGeom>
          <a:solidFill>
            <a:srgbClr val="000000">
              <a:alpha val="4000"/>
            </a:srgbClr>
          </a:solidFill>
        </p:spPr>
      </p:sp>
      <p:sp>
        <p:nvSpPr>
          <p:cNvPr id="28" name="Text 26"/>
          <p:cNvSpPr/>
          <p:nvPr/>
        </p:nvSpPr>
        <p:spPr>
          <a:xfrm>
            <a:off x="906780" y="7224236"/>
            <a:ext cx="2900720" cy="319564"/>
          </a:xfrm>
          <a:prstGeom prst="rect">
            <a:avLst/>
          </a:prstGeom>
          <a:noFill/>
        </p:spPr>
        <p:txBody>
          <a:bodyPr wrap="non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Alibaba Druid</a:t>
            </a:r>
            <a:endParaRPr lang="en-US" sz="1550" dirty="0"/>
          </a:p>
        </p:txBody>
      </p:sp>
      <p:sp>
        <p:nvSpPr>
          <p:cNvPr id="29" name="Text 27"/>
          <p:cNvSpPr/>
          <p:nvPr/>
        </p:nvSpPr>
        <p:spPr>
          <a:xfrm>
            <a:off x="4214693" y="7224236"/>
            <a:ext cx="2896910" cy="319564"/>
          </a:xfrm>
          <a:prstGeom prst="rect">
            <a:avLst/>
          </a:prstGeom>
          <a:noFill/>
        </p:spPr>
        <p:txBody>
          <a:bodyPr wrap="non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t>
            </a:r>
            <a:endParaRPr lang="en-US" sz="1550" dirty="0"/>
          </a:p>
        </p:txBody>
      </p:sp>
      <p:sp>
        <p:nvSpPr>
          <p:cNvPr id="30" name="Text 28"/>
          <p:cNvSpPr/>
          <p:nvPr/>
        </p:nvSpPr>
        <p:spPr>
          <a:xfrm>
            <a:off x="7518797" y="7224236"/>
            <a:ext cx="2896910" cy="319564"/>
          </a:xfrm>
          <a:prstGeom prst="rect">
            <a:avLst/>
          </a:prstGeom>
          <a:noFill/>
        </p:spPr>
        <p:txBody>
          <a:bodyPr wrap="non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t>
            </a:r>
            <a:endParaRPr lang="en-US" sz="1550" dirty="0"/>
          </a:p>
        </p:txBody>
      </p:sp>
      <p:sp>
        <p:nvSpPr>
          <p:cNvPr id="31" name="Text 29"/>
          <p:cNvSpPr/>
          <p:nvPr/>
        </p:nvSpPr>
        <p:spPr>
          <a:xfrm>
            <a:off x="10822900" y="7224236"/>
            <a:ext cx="2900720" cy="319564"/>
          </a:xfrm>
          <a:prstGeom prst="rect">
            <a:avLst/>
          </a:prstGeom>
          <a:noFill/>
        </p:spPr>
        <p:txBody>
          <a:bodyPr wrap="none" lIns="0" tIns="0" rIns="0" bIns="0" rtlCol="0" anchor="t"/>
          <a:lstStyle/>
          <a:p>
            <a:pPr marL="0" indent="0" algn="ctr">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t>
            </a:r>
            <a:endParaRPr lang="en-US" sz="155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998815"/>
            <a:ext cx="7077551" cy="708779"/>
          </a:xfrm>
          <a:prstGeom prst="rect">
            <a:avLst/>
          </a:prstGeom>
          <a:noFill/>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Conclusion &amp; Key Findings</a:t>
            </a:r>
            <a:endParaRPr lang="en-US" sz="4450" dirty="0"/>
          </a:p>
        </p:txBody>
      </p:sp>
      <p:sp>
        <p:nvSpPr>
          <p:cNvPr id="3" name="Text 1"/>
          <p:cNvSpPr/>
          <p:nvPr/>
        </p:nvSpPr>
        <p:spPr>
          <a:xfrm>
            <a:off x="2197418" y="2436971"/>
            <a:ext cx="2835235" cy="354330"/>
          </a:xfrm>
          <a:prstGeom prst="rect">
            <a:avLst/>
          </a:prstGeom>
          <a:noFill/>
        </p:spPr>
        <p:txBody>
          <a:bodyPr wrap="none" lIns="0" tIns="0" rIns="0" bIns="0" rtlCol="0" anchor="t"/>
          <a:lstStyle/>
          <a:p>
            <a:pPr marL="0" indent="0" algn="r">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No Perfect Tool</a:t>
            </a:r>
            <a:endParaRPr lang="en-US" sz="2200" dirty="0"/>
          </a:p>
        </p:txBody>
      </p:sp>
      <p:sp>
        <p:nvSpPr>
          <p:cNvPr id="4" name="Text 2"/>
          <p:cNvSpPr/>
          <p:nvPr/>
        </p:nvSpPr>
        <p:spPr>
          <a:xfrm>
            <a:off x="793790" y="2927390"/>
            <a:ext cx="4238863" cy="725805"/>
          </a:xfrm>
          <a:prstGeom prst="rect">
            <a:avLst/>
          </a:prstGeom>
          <a:noFill/>
        </p:spPr>
        <p:txBody>
          <a:bodyPr wrap="square" lIns="0" tIns="0" rIns="0" bIns="0" rtlCol="0" anchor="t"/>
          <a:lstStyle/>
          <a:p>
            <a:pPr marL="0" indent="0" algn="r">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Static tools vary; none comprehensively catch all race conditions.</a:t>
            </a:r>
            <a:endParaRPr lang="en-US" sz="1750" dirty="0"/>
          </a:p>
        </p:txBody>
      </p:sp>
      <p:pic>
        <p:nvPicPr>
          <p:cNvPr id="5" name="Image 0" descr="preencoded.png"/>
          <p:cNvPicPr>
            <a:picLocks noChangeAspect="1"/>
          </p:cNvPicPr>
          <p:nvPr/>
        </p:nvPicPr>
        <p:blipFill>
          <a:blip r:embed="rId1"/>
          <a:stretch>
            <a:fillRect/>
          </a:stretch>
        </p:blipFill>
        <p:spPr>
          <a:xfrm>
            <a:off x="5032653" y="2047756"/>
            <a:ext cx="4564975" cy="4564975"/>
          </a:xfrm>
          <a:prstGeom prst="rect">
            <a:avLst/>
          </a:prstGeom>
        </p:spPr>
      </p:pic>
      <p:sp>
        <p:nvSpPr>
          <p:cNvPr id="6" name="Text 3"/>
          <p:cNvSpPr/>
          <p:nvPr/>
        </p:nvSpPr>
        <p:spPr>
          <a:xfrm>
            <a:off x="6324362" y="3299698"/>
            <a:ext cx="318968" cy="398621"/>
          </a:xfrm>
          <a:prstGeom prst="rect">
            <a:avLst/>
          </a:prstGeom>
          <a:noFill/>
        </p:spPr>
        <p:txBody>
          <a:bodyPr wrap="none" lIns="0" tIns="0" rIns="0" bIns="0" rtlCol="0" anchor="t"/>
          <a:lstStyle/>
          <a:p>
            <a:pPr marL="0" indent="0" algn="l">
              <a:lnSpc>
                <a:spcPts val="4000"/>
              </a:lnSpc>
              <a:buNone/>
            </a:pPr>
            <a:r>
              <a:rPr lang="en-US" sz="2500" dirty="0">
                <a:solidFill>
                  <a:srgbClr val="1E3063"/>
                </a:solidFill>
                <a:latin typeface="Instrument Sans Semi Bold" pitchFamily="34" charset="0"/>
                <a:ea typeface="Instrument Sans Semi Bold" pitchFamily="34" charset="-122"/>
                <a:cs typeface="Instrument Sans Semi Bold" pitchFamily="34" charset="-120"/>
              </a:rPr>
              <a:t>1</a:t>
            </a:r>
            <a:endParaRPr lang="en-US" sz="2500" dirty="0"/>
          </a:p>
        </p:txBody>
      </p:sp>
      <p:sp>
        <p:nvSpPr>
          <p:cNvPr id="7" name="Text 4"/>
          <p:cNvSpPr/>
          <p:nvPr/>
        </p:nvSpPr>
        <p:spPr>
          <a:xfrm>
            <a:off x="9597628" y="2436971"/>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Infer</a:t>
            </a:r>
            <a:endParaRPr lang="en-US" sz="2200" dirty="0"/>
          </a:p>
        </p:txBody>
      </p:sp>
      <p:sp>
        <p:nvSpPr>
          <p:cNvPr id="8" name="Text 5"/>
          <p:cNvSpPr/>
          <p:nvPr/>
        </p:nvSpPr>
        <p:spPr>
          <a:xfrm>
            <a:off x="9597628" y="2927390"/>
            <a:ext cx="4238982" cy="725805"/>
          </a:xfrm>
          <a:prstGeom prst="rect">
            <a:avLst/>
          </a:prstGeom>
          <a:noFill/>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Strong on field-level analysis; struggles with races hidden in library code.</a:t>
            </a:r>
            <a:endParaRPr lang="en-US" sz="1750" dirty="0"/>
          </a:p>
        </p:txBody>
      </p:sp>
      <p:pic>
        <p:nvPicPr>
          <p:cNvPr id="9" name="Image 1" descr="preencoded.png"/>
          <p:cNvPicPr>
            <a:picLocks noChangeAspect="1"/>
          </p:cNvPicPr>
          <p:nvPr/>
        </p:nvPicPr>
        <p:blipFill>
          <a:blip r:embed="rId2"/>
          <a:stretch>
            <a:fillRect/>
          </a:stretch>
        </p:blipFill>
        <p:spPr>
          <a:xfrm>
            <a:off x="5032653" y="2047756"/>
            <a:ext cx="4564975" cy="4564975"/>
          </a:xfrm>
          <a:prstGeom prst="rect">
            <a:avLst/>
          </a:prstGeom>
        </p:spPr>
      </p:pic>
      <p:sp>
        <p:nvSpPr>
          <p:cNvPr id="10" name="Text 6"/>
          <p:cNvSpPr/>
          <p:nvPr/>
        </p:nvSpPr>
        <p:spPr>
          <a:xfrm>
            <a:off x="7986713" y="3299698"/>
            <a:ext cx="318968" cy="398621"/>
          </a:xfrm>
          <a:prstGeom prst="rect">
            <a:avLst/>
          </a:prstGeom>
          <a:noFill/>
        </p:spPr>
        <p:txBody>
          <a:bodyPr wrap="none" lIns="0" tIns="0" rIns="0" bIns="0" rtlCol="0" anchor="t"/>
          <a:lstStyle/>
          <a:p>
            <a:pPr marL="0" indent="0" algn="l">
              <a:lnSpc>
                <a:spcPts val="4000"/>
              </a:lnSpc>
              <a:buNone/>
            </a:pPr>
            <a:r>
              <a:rPr lang="en-US" sz="2500" dirty="0">
                <a:solidFill>
                  <a:srgbClr val="1E3063"/>
                </a:solidFill>
                <a:latin typeface="Instrument Sans Semi Bold" pitchFamily="34" charset="0"/>
                <a:ea typeface="Instrument Sans Semi Bold" pitchFamily="34" charset="-122"/>
                <a:cs typeface="Instrument Sans Semi Bold" pitchFamily="34" charset="-120"/>
              </a:rPr>
              <a:t>2</a:t>
            </a:r>
            <a:endParaRPr lang="en-US" sz="2500" dirty="0"/>
          </a:p>
        </p:txBody>
      </p:sp>
      <p:sp>
        <p:nvSpPr>
          <p:cNvPr id="11" name="Text 7"/>
          <p:cNvSpPr/>
          <p:nvPr/>
        </p:nvSpPr>
        <p:spPr>
          <a:xfrm>
            <a:off x="9597628" y="4771787"/>
            <a:ext cx="4238982" cy="1451610"/>
          </a:xfrm>
          <a:prstGeom prst="rect">
            <a:avLst/>
          </a:prstGeom>
          <a:noFill/>
        </p:spPr>
        <p:txBody>
          <a:bodyPr wrap="square" lIns="0" tIns="0" rIns="0" bIns="0" rtlCol="0" anchor="t"/>
          <a:lstStyle/>
          <a:p>
            <a:pPr marL="0" indent="0" algn="l">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SpotBugs </a:t>
            </a:r>
            <a:r>
              <a:rPr lang="en-US" sz="1750" dirty="0">
                <a:solidFill>
                  <a:srgbClr val="1E3063"/>
                </a:solidFill>
                <a:latin typeface="Instrument Sans Medium" pitchFamily="34" charset="0"/>
                <a:ea typeface="Instrument Sans Medium" pitchFamily="34" charset="-122"/>
                <a:cs typeface="Instrument Sans Medium" pitchFamily="34" charset="-120"/>
              </a:rPr>
              <a:t>&amp; </a:t>
            </a:r>
            <a:r>
              <a:rPr lang="en-US" sz="1750" b="1" dirty="0">
                <a:solidFill>
                  <a:srgbClr val="1E3063"/>
                </a:solidFill>
                <a:latin typeface="Instrument Sans Medium" pitchFamily="34" charset="0"/>
                <a:ea typeface="Instrument Sans Medium" pitchFamily="34" charset="-122"/>
                <a:cs typeface="Instrument Sans Medium" pitchFamily="34" charset="-120"/>
              </a:rPr>
              <a:t>SonarQube</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a:solidFill>
                  <a:srgbClr val="1E3063"/>
                </a:solidFill>
                <a:latin typeface="Instrument Sans Medium" pitchFamily="34" charset="0"/>
                <a:ea typeface="Instrument Sans Medium" pitchFamily="34" charset="-122"/>
                <a:cs typeface="Instrument Sans Medium" pitchFamily="34" charset="-120"/>
              </a:rPr>
              <a:t>Limited by pattern-matching (SpotBugs) or basic concurrency rules (SonarQube Community Ed).</a:t>
            </a:r>
            <a:endParaRPr lang="en-US" sz="1750" dirty="0"/>
          </a:p>
        </p:txBody>
      </p:sp>
      <p:pic>
        <p:nvPicPr>
          <p:cNvPr id="12" name="Image 2" descr="preencoded.png"/>
          <p:cNvPicPr>
            <a:picLocks noChangeAspect="1"/>
          </p:cNvPicPr>
          <p:nvPr/>
        </p:nvPicPr>
        <p:blipFill>
          <a:blip r:embed="rId3"/>
          <a:stretch>
            <a:fillRect/>
          </a:stretch>
        </p:blipFill>
        <p:spPr>
          <a:xfrm>
            <a:off x="5032653" y="2047756"/>
            <a:ext cx="4564975" cy="4564975"/>
          </a:xfrm>
          <a:prstGeom prst="rect">
            <a:avLst/>
          </a:prstGeom>
        </p:spPr>
      </p:pic>
      <p:sp>
        <p:nvSpPr>
          <p:cNvPr id="13" name="Text 8"/>
          <p:cNvSpPr/>
          <p:nvPr/>
        </p:nvSpPr>
        <p:spPr>
          <a:xfrm>
            <a:off x="7986713" y="4962049"/>
            <a:ext cx="318968" cy="398621"/>
          </a:xfrm>
          <a:prstGeom prst="rect">
            <a:avLst/>
          </a:prstGeom>
          <a:noFill/>
        </p:spPr>
        <p:txBody>
          <a:bodyPr wrap="none" lIns="0" tIns="0" rIns="0" bIns="0" rtlCol="0" anchor="t"/>
          <a:lstStyle/>
          <a:p>
            <a:pPr marL="0" indent="0" algn="l">
              <a:lnSpc>
                <a:spcPts val="4000"/>
              </a:lnSpc>
              <a:buNone/>
            </a:pPr>
            <a:r>
              <a:rPr lang="en-US" sz="2500" dirty="0">
                <a:solidFill>
                  <a:srgbClr val="1E3063"/>
                </a:solidFill>
                <a:latin typeface="Instrument Sans Semi Bold" pitchFamily="34" charset="0"/>
                <a:ea typeface="Instrument Sans Semi Bold" pitchFamily="34" charset="-122"/>
                <a:cs typeface="Instrument Sans Semi Bold" pitchFamily="34" charset="-120"/>
              </a:rPr>
              <a:t>3</a:t>
            </a:r>
            <a:endParaRPr lang="en-US" sz="2500" dirty="0"/>
          </a:p>
        </p:txBody>
      </p:sp>
      <p:sp>
        <p:nvSpPr>
          <p:cNvPr id="14" name="Text 9"/>
          <p:cNvSpPr/>
          <p:nvPr/>
        </p:nvSpPr>
        <p:spPr>
          <a:xfrm>
            <a:off x="2197418" y="4889540"/>
            <a:ext cx="2835235" cy="354330"/>
          </a:xfrm>
          <a:prstGeom prst="rect">
            <a:avLst/>
          </a:prstGeom>
          <a:noFill/>
        </p:spPr>
        <p:txBody>
          <a:bodyPr wrap="none" lIns="0" tIns="0" rIns="0" bIns="0" rtlCol="0" anchor="t"/>
          <a:lstStyle/>
          <a:p>
            <a:pPr marL="0" indent="0" algn="r">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Critical Blind Spot</a:t>
            </a:r>
            <a:endParaRPr lang="en-US" sz="2200" dirty="0"/>
          </a:p>
        </p:txBody>
      </p:sp>
      <p:sp>
        <p:nvSpPr>
          <p:cNvPr id="15" name="Text 10"/>
          <p:cNvSpPr/>
          <p:nvPr/>
        </p:nvSpPr>
        <p:spPr>
          <a:xfrm>
            <a:off x="793790" y="5379958"/>
            <a:ext cx="4238863" cy="725805"/>
          </a:xfrm>
          <a:prstGeom prst="rect">
            <a:avLst/>
          </a:prstGeom>
          <a:noFill/>
        </p:spPr>
        <p:txBody>
          <a:bodyPr wrap="square" lIns="0" tIns="0" rIns="0" bIns="0" rtlCol="0" anchor="t"/>
          <a:lstStyle/>
          <a:p>
            <a:pPr marL="0" indent="0" algn="r">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Struggle with library class races, often lacking models for library internals.</a:t>
            </a:r>
            <a:endParaRPr lang="en-US" sz="1750" dirty="0"/>
          </a:p>
        </p:txBody>
      </p:sp>
      <p:pic>
        <p:nvPicPr>
          <p:cNvPr id="16" name="Image 3" descr="preencoded.png"/>
          <p:cNvPicPr>
            <a:picLocks noChangeAspect="1"/>
          </p:cNvPicPr>
          <p:nvPr/>
        </p:nvPicPr>
        <p:blipFill>
          <a:blip r:embed="rId4"/>
          <a:stretch>
            <a:fillRect/>
          </a:stretch>
        </p:blipFill>
        <p:spPr>
          <a:xfrm>
            <a:off x="5032653" y="2047756"/>
            <a:ext cx="4564975" cy="4564975"/>
          </a:xfrm>
          <a:prstGeom prst="rect">
            <a:avLst/>
          </a:prstGeom>
        </p:spPr>
      </p:pic>
      <p:sp>
        <p:nvSpPr>
          <p:cNvPr id="17" name="Text 11"/>
          <p:cNvSpPr/>
          <p:nvPr/>
        </p:nvSpPr>
        <p:spPr>
          <a:xfrm>
            <a:off x="6324362" y="4962049"/>
            <a:ext cx="318968" cy="398621"/>
          </a:xfrm>
          <a:prstGeom prst="rect">
            <a:avLst/>
          </a:prstGeom>
          <a:noFill/>
        </p:spPr>
        <p:txBody>
          <a:bodyPr wrap="none" lIns="0" tIns="0" rIns="0" bIns="0" rtlCol="0" anchor="t"/>
          <a:lstStyle/>
          <a:p>
            <a:pPr marL="0" indent="0" algn="l">
              <a:lnSpc>
                <a:spcPts val="4000"/>
              </a:lnSpc>
              <a:buNone/>
            </a:pPr>
            <a:r>
              <a:rPr lang="en-US" sz="2500" dirty="0">
                <a:solidFill>
                  <a:srgbClr val="1E3063"/>
                </a:solidFill>
                <a:latin typeface="Instrument Sans Semi Bold" pitchFamily="34" charset="0"/>
                <a:ea typeface="Instrument Sans Semi Bold" pitchFamily="34" charset="-122"/>
                <a:cs typeface="Instrument Sans Semi Bold" pitchFamily="34" charset="-120"/>
              </a:rPr>
              <a:t>4</a:t>
            </a:r>
            <a:endParaRPr lang="en-US" sz="2500" dirty="0"/>
          </a:p>
        </p:txBody>
      </p:sp>
      <p:sp>
        <p:nvSpPr>
          <p:cNvPr id="18" name="Text 12"/>
          <p:cNvSpPr/>
          <p:nvPr/>
        </p:nvSpPr>
        <p:spPr>
          <a:xfrm>
            <a:off x="793790" y="6867882"/>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Recommendation: Multi-layered strategy combining static tools, developer review, and dynamic testing.</a:t>
            </a:r>
            <a:endParaRPr lang="en-US" sz="1750" dirty="0"/>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3246</Words>
  <Application>WPS 演示</Application>
  <PresentationFormat>On-screen Show (16:9)</PresentationFormat>
  <Paragraphs>230</Paragraphs>
  <Slides>6</Slides>
  <Notes>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vt:i4>
      </vt:variant>
    </vt:vector>
  </HeadingPairs>
  <TitlesOfParts>
    <vt:vector size="20" baseType="lpstr">
      <vt:lpstr>Arial</vt:lpstr>
      <vt:lpstr>宋体</vt:lpstr>
      <vt:lpstr>Wingdings</vt:lpstr>
      <vt:lpstr>Instrument Sans Semi Bold</vt:lpstr>
      <vt:lpstr>Instrument Sans Semi Bold</vt:lpstr>
      <vt:lpstr>Instrument Sans Semi Bold</vt:lpstr>
      <vt:lpstr>Instrument Sans Medium</vt:lpstr>
      <vt:lpstr>Instrument Sans Medium</vt:lpstr>
      <vt:lpstr>Instrument Sans Medium</vt:lpstr>
      <vt:lpstr>Calibri</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blingbling</cp:lastModifiedBy>
  <cp:revision>5</cp:revision>
  <dcterms:created xsi:type="dcterms:W3CDTF">2025-05-28T08:07:00Z</dcterms:created>
  <dcterms:modified xsi:type="dcterms:W3CDTF">2025-05-28T09:23:12Z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C7492481E2BA42E39ED791928CBDBD5D_12</vt:lpwstr>
  </property>
  <property fmtid="{D5CDD505-2E9C-101B-9397-08002B2CF9AE}" pid="3" name="KSOProductBuildVer">
    <vt:lpwstr>2052-12.1.0.21171</vt:lpwstr>
  </property>
</Properties>
</file>